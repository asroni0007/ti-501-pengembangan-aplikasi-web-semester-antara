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46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74980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DBF0E"/>
                </a:solidFill>
              </a:rPr>
              <a:t>CPMK52 · Bot Messaging · Long Polling · DRY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4389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</a:rPr>
              <a:t>Pertemuan 13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40080" y="1993392"/>
            <a:ext cx="7726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Telegram Bot API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Long Polling, dan Reuse Logic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3785616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AF1FA"/>
                </a:solidFill>
              </a:rPr>
              <a:t>Integrasi aplikasi web dengan platform percakapan berbasis polling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732520" y="2697480"/>
            <a:ext cx="2788920" cy="1508760"/>
          </a:xfrm>
          <a:prstGeom prst="roundRect">
            <a:avLst>
              <a:gd name="adj" fmla="val 3636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97112" y="2834640"/>
            <a:ext cx="24597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/caption Kopi Arabika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service logic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jawaban bot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58368" y="5440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1FA"/>
                </a:solidFill>
              </a:rPr>
              <a:t>Pengembangan Aplikasi Web (TI-501) | Program Studi Teknologi Informasi UMY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3796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Posisi Pertemuan 13 dalam RPS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Fokus: bot messaging, long polling, Telegram Bot API, dan reuse logic dengan prinsip DRY.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17320"/>
            <a:ext cx="73152" cy="406908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Sebelumnya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6868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Keamanan dasar aplikasi web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Validasi server-side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SQL Injection dan XSS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Sanitasi input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74720" cy="406908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406908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Hari Ini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5468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Bot messaging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Long polling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Telegram Bot API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Handler dan service DRY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291840" cy="406908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83880" y="1417320"/>
            <a:ext cx="73152" cy="406908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15636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Berikutnya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366760" y="1929384"/>
            <a:ext cx="2971800" cy="3429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WhatsApp Cloud API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Webhook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Verifikasi webhook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Tunneling ngrok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Mengapa Aplikasi Web Perlu Kanal Percakapan?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UMKM sering berinteraksi dengan pelanggan melalui chat, bukan hanya melalui halaman web.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Dekat dengan Pengguna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Chat memudahkan pelanggan bertanya produk, harga, stok, dan promo.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Respons Cepat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Bot dapat memberikan jawaban awal sebelum admin manusia mengambil alih.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4290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Multi-Kanal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Logic aplikasi dapat dipakai di web, REST API, Telegram, dan WhatsApp.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Target pembelajaran: mahasiswa memahami integrasi platform percakapan tanpa mengulang logic aplikasi.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Alur Bot Messaging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Pesan pengguna diterima platform, diteruskan ke aplikasi, diproses oleh service, lalu dibalas.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Telegram Bot API: Konsep Dasar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Bot Telegram berkomunikasi melalui endpoint HTTPS yang disediakan Telegram.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33756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Bot Token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29260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Identitas rahasia bot yang diperoleh dari BotFather. Token disimpan di .env.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33756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getUpdates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29260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Endpoint untuk mengambil pesan/update baru saat memakai polling.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246120" cy="333756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33756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sendMessage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29260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Endpoint untuk mengirim balasan ke chat pengguna.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960120" y="5074920"/>
            <a:ext cx="10058400" cy="731520"/>
          </a:xfrm>
          <a:prstGeom prst="roundRect">
            <a:avLst>
              <a:gd name="adj" fmla="val 75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4712" y="5212080"/>
            <a:ext cx="9729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https://api.telegram.org/bot&lt;TOKEN&gt;/getUpdates</a:t>
            </a:r>
            <a:endParaRPr lang="en-US" sz="1060" dirty="0"/>
          </a:p>
          <a:p>
            <a:pPr indent="0" marL="0">
              <a:buNone/>
            </a:pPr>
            <a:r>
              <a:rPr lang="en-US" sz="10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https://api.telegram.org/bot&lt;TOKEN&gt;/sendMessage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Long Polling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Aplikasi meminta update secara berulang dan menyimpan offset agar pesan tidak diproses ulang.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Contoh Long Polling di Node.js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Pada praktikum, polling dibuat sederhana agar mudah dibaca dan diuji.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623560" cy="4251960"/>
          </a:xfrm>
          <a:prstGeom prst="roundRect">
            <a:avLst>
              <a:gd name="adj" fmla="val 129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2943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offset = 0;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pollOnce()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updates = await getUpdates(offset);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update of updates)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offset = update.update_id + 1;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(update.message) {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await handleMessage(update.message);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60" dirty="0"/>
          </a:p>
          <a:p>
            <a:pPr indent="0" marL="0">
              <a:buNone/>
            </a:pPr>
            <a:endParaRPr lang="en-US" sz="960" dirty="0"/>
          </a:p>
          <a:p>
            <a:pPr indent="0" marL="0">
              <a:buNone/>
            </a:pPr>
            <a:r>
              <a:rPr lang="en-US" sz="96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setInterval(pollOnce, 2000);</a:t>
            </a:r>
            <a:endParaRPr lang="en-US" sz="960" dirty="0"/>
          </a:p>
        </p:txBody>
      </p:sp>
      <p:sp>
        <p:nvSpPr>
          <p:cNvPr id="7" name="Text 5"/>
          <p:cNvSpPr/>
          <p:nvPr/>
        </p:nvSpPr>
        <p:spPr>
          <a:xfrm>
            <a:off x="6903720" y="1481328"/>
            <a:ext cx="4343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Hal yang Perlu Diperhatikan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903720" y="1828800"/>
            <a:ext cx="3108960" cy="0"/>
          </a:xfrm>
          <a:prstGeom prst="line">
            <a:avLst/>
          </a:prstGeom>
          <a:noFill/>
          <a:ln w="25400">
            <a:solidFill>
              <a:srgbClr val="FDBF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3720" y="1984248"/>
            <a:ext cx="43434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Gunakan offset untuk menghindari duplikasi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Tangani error agar polling tidak berhenti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Jangan menulis token langsung di kode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Long polling cocok untuk belajar/prototipe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Handler Bot dan Parsing Perintah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Handler menerima pesan, mengenali perintah, lalu memanggil service yang sesuai.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303520" cy="2743200"/>
          </a:xfrm>
          <a:prstGeom prst="roundRect">
            <a:avLst>
              <a:gd name="adj" fmla="val 2000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497433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handleMessage(message)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chatId = message.chat.id;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 = message.text || '';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buildAssistantReply(text);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sendMessage(chatId, result.reply);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6629400" y="137160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371600"/>
            <a:ext cx="73152" cy="10058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151790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/start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6812280" y="188366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Menampilkan salam dan panduan awal.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6629400" y="269748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29400" y="2697480"/>
            <a:ext cx="73152" cy="1005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12280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/menu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6812280" y="320954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Menampilkan daftar perintah bot.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6629400" y="4023360"/>
            <a:ext cx="4160520" cy="1005840"/>
          </a:xfrm>
          <a:prstGeom prst="roundRect">
            <a:avLst>
              <a:gd name="adj" fmla="val 6364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29400" y="402336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41696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/caption produk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812280" y="4535424"/>
            <a:ext cx="3840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Membuat caption promosi dari nama produk.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Reuse Logic dengan Prinsip DRY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Jangan menulis logic caption dua kali di REST API dan Telegram Bot.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1216152"/>
            <a:ext cx="10789920" cy="4617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Service Logic: Satu Fungsi untuk Banyak Kanal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Service menjadi pusat aturan bisnis aplikasi.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98448"/>
            <a:ext cx="6446520" cy="4343400"/>
          </a:xfrm>
          <a:prstGeom prst="roundRect">
            <a:avLst>
              <a:gd name="adj" fmla="val 1263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435608"/>
            <a:ext cx="6117336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buildAssistantReply(message)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text = String(message || '').trim();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(!text || text === '/start' || text === '/menu')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 type: 'help', reply: getMenuHelp() };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productName = text.replace(/^\/caption/i, '').trim();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type: 'caption',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reply: generateCaption({ productName })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7543800" y="14813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4466E"/>
                </a:solidFill>
              </a:rPr>
              <a:t>Keuntungan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543800" y="1828800"/>
            <a:ext cx="3108960" cy="0"/>
          </a:xfrm>
          <a:prstGeom prst="line">
            <a:avLst/>
          </a:prstGeom>
          <a:noFill/>
          <a:ln w="25400">
            <a:solidFill>
              <a:srgbClr val="0F7A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43800" y="1984248"/>
            <a:ext cx="36576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Konsistensi jawaban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Kode lebih pendek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Mudah diuji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Mudah dipindah ke WhatsApp/webhook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• Perubahan cukup di satu file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REST API dan Bot Memakai Logic yang Sama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sebelumnya tetap relevan karena REST API menjadi kanal pengujian service.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5806440" cy="3474720"/>
          </a:xfrm>
          <a:prstGeom prst="roundRect">
            <a:avLst>
              <a:gd name="adj" fmla="val 1579"/>
            </a:avLst>
          </a:prstGeom>
          <a:solidFill>
            <a:srgbClr val="0F1F34"/>
          </a:solidFill>
          <a:ln w="12700">
            <a:solidFill>
              <a:srgbClr val="0F1F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63040"/>
            <a:ext cx="5477256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REST API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app.get('/api/assistant', (req, res) =&gt;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res.json(buildAssistantReply(req.query.message));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Telegram Bot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buildAssistantReply(message.text);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B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sendMessage(chatId, result.reply);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7086600" y="1417320"/>
            <a:ext cx="3886200" cy="1005840"/>
          </a:xfrm>
          <a:prstGeom prst="roundRect">
            <a:avLst>
              <a:gd name="adj" fmla="val 636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417320"/>
            <a:ext cx="73152" cy="100584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563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Satu Service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7269480" y="1929384"/>
            <a:ext cx="3566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buildAssistantReply() menjadi sumber logic utama.</a:t>
            </a:r>
            <a:endParaRPr lang="en-US" sz="1070" dirty="0"/>
          </a:p>
        </p:txBody>
      </p:sp>
      <p:sp>
        <p:nvSpPr>
          <p:cNvPr id="11" name="Shape 9"/>
          <p:cNvSpPr/>
          <p:nvPr/>
        </p:nvSpPr>
        <p:spPr>
          <a:xfrm>
            <a:off x="7086600" y="2743200"/>
            <a:ext cx="3886200" cy="1005840"/>
          </a:xfrm>
          <a:prstGeom prst="roundRect">
            <a:avLst>
              <a:gd name="adj" fmla="val 636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86600" y="2743200"/>
            <a:ext cx="73152" cy="100584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288950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Dua Kanal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7269480" y="3255264"/>
            <a:ext cx="3566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REST API untuk testing, Telegram untuk chat pengguna.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7086600" y="4069080"/>
            <a:ext cx="3886200" cy="1005840"/>
          </a:xfrm>
          <a:prstGeom prst="roundRect">
            <a:avLst>
              <a:gd name="adj" fmla="val 6364"/>
            </a:avLst>
          </a:prstGeom>
          <a:solidFill>
            <a:srgbClr val="EDF8F2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86600" y="4069080"/>
            <a:ext cx="73152" cy="100584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69480" y="42153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Siap Lanjut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7269480" y="4581144"/>
            <a:ext cx="35661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Pola ini bisa dipakai pada webhook WhatsApp Cloud API.</a:t>
            </a:r>
            <a:endParaRPr lang="en-US" sz="1070" dirty="0"/>
          </a:p>
        </p:txBody>
      </p:sp>
      <p:sp>
        <p:nvSpPr>
          <p:cNvPr id="19" name="Shape 1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Keamanan Dasar Bot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Integrasi bot tetap perlu memperhatikan kerahasiaan token dan validasi input.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429000" cy="3429000"/>
          </a:xfrm>
          <a:prstGeom prst="roundRect">
            <a:avLst>
              <a:gd name="adj" fmla="val 1867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34290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Token di .env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10896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Token bot tidak boleh ditulis langsung di repository. Gunakan .env dan .gitignore.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429000" cy="3429000"/>
          </a:xfrm>
          <a:prstGeom prst="roundRect">
            <a:avLst>
              <a:gd name="adj" fmla="val 1867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Validasi Pesan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10896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Batasi input kosong, input terlalu panjang, dan perintah yang tidak dikenali.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29000" cy="3429000"/>
          </a:xfrm>
          <a:prstGeom prst="roundRect">
            <a:avLst>
              <a:gd name="adj" fmla="val 1867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Error Handling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10896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Polling tidak boleh berhenti hanya karena satu pesan gagal diproses.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28523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Keamanan bot adalah kelanjutan dari validasi dan sanitasi input pada Pertemuan 12.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Panduan Praktikum 50 Menit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Target akhir: bot Telegram dapat membalas perintah dan logic-nya dipakai ulang oleh REST API.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145389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0–10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57400" y="14173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Buat bot di BotFather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4173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Token tersedia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2075688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037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10–20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57400" y="216712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Jalankan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17920" y="216712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Express + polling aktif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28254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295351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20–30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57400" y="291693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Uji /start, /menu, /caption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2916936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Bot membalas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68680" y="3575304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" y="370332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2631"/>
                </a:solidFill>
              </a:rPr>
              <a:t>30–40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6667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Pelajari service DRY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3666744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Logic dipahami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8680" y="4325112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7552" y="4453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40–50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57400" y="4416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466E"/>
                </a:solidFill>
              </a:rPr>
              <a:t>Tambah perintah dan dokumentasi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17920" y="44165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02631"/>
                </a:solidFill>
              </a:rPr>
              <a:t>Tugas siap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0120" y="5440680"/>
            <a:ext cx="9966960" cy="5943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5440680"/>
            <a:ext cx="73152" cy="59436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86984"/>
            <a:ext cx="9646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Output akhir</a:t>
            </a:r>
            <a:endParaRPr lang="en-US" sz="1420" dirty="0"/>
          </a:p>
        </p:txBody>
      </p:sp>
      <p:sp>
        <p:nvSpPr>
          <p:cNvPr id="28" name="Text 26"/>
          <p:cNvSpPr/>
          <p:nvPr/>
        </p:nvSpPr>
        <p:spPr>
          <a:xfrm>
            <a:off x="1143000" y="5952744"/>
            <a:ext cx="9646920" cy="-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Screenshot bot Telegram, screenshot REST API, dan penjelasan penerapan DRY.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Kesalahan Umum Saat Praktikum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Beberapa masalah biasanya muncul saat pertama kali menjalankan bot.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DEBED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371600"/>
            <a:ext cx="73152" cy="34290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Token Salah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Bot tidak berjalan atau Telegram mengembalikan error unauthorized. Periksa token dari BotFather.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371600"/>
            <a:ext cx="73152" cy="34290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Pesan Berulang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Offset tidak diperbarui sehingga update yang sama diproses terus-menerus.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371600"/>
            <a:ext cx="3337560" cy="3429000"/>
          </a:xfrm>
          <a:prstGeom prst="roundRect">
            <a:avLst>
              <a:gd name="adj" fmla="val 1918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371600"/>
            <a:ext cx="73152" cy="3429000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179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Logic Ganda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883664"/>
            <a:ext cx="3017520" cy="2788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Kode caption ditulis di handler dan API. Pindahkan ke service agar DRY.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60120" y="52578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4466E"/>
                </a:solidFill>
              </a:rPr>
              <a:t>Debug bertahap: uji REST API dahulu, lalu lanjutkan ke bot Telegram.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01752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4466E"/>
                </a:solidFill>
              </a:rPr>
              <a:t>Penutup dan Tugas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E6B7A"/>
                </a:solidFill>
              </a:rPr>
              <a:t>Pertemuan 13 menghubungkan backend web dengan pengalaman percakapan pengguna.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155680" cy="0"/>
          </a:xfrm>
          <a:prstGeom prst="line">
            <a:avLst/>
          </a:prstGeom>
          <a:noFill/>
          <a:ln w="13970">
            <a:solidFill>
              <a:srgbClr val="244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EAF1FA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417320"/>
            <a:ext cx="73152" cy="2971800"/>
          </a:xfrm>
          <a:prstGeom prst="rect">
            <a:avLst/>
          </a:prstGeom>
          <a:solidFill>
            <a:srgbClr val="0F7A48"/>
          </a:solidFill>
          <a:ln w="12700">
            <a:solidFill>
              <a:srgbClr val="0F7A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Rangkuman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9601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Bot menerima pesan pengguna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Long polling mengambil update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Handler memanggil service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• DRY mencegah logic berulang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44348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1417320"/>
            <a:ext cx="73152" cy="2971800"/>
          </a:xfrm>
          <a:prstGeom prst="rect">
            <a:avLst/>
          </a:prstGeom>
          <a:solidFill>
            <a:srgbClr val="FDBF0E"/>
          </a:solidFill>
          <a:ln w="12700">
            <a:solidFill>
              <a:srgbClr val="FDBF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Tugas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6177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Tambahkan satu perintah baru dan pastikan perintah tersebut memakai service yang juga bisa dipanggil dari REST API.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383280" cy="2971800"/>
          </a:xfrm>
          <a:prstGeom prst="roundRect">
            <a:avLst>
              <a:gd name="adj" fmla="val 2154"/>
            </a:avLst>
          </a:prstGeom>
          <a:solidFill>
            <a:srgbClr val="FFF6D8"/>
          </a:solidFill>
          <a:ln w="10160">
            <a:solidFill>
              <a:srgbClr val="D8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1417320"/>
            <a:ext cx="73152" cy="2971800"/>
          </a:xfrm>
          <a:prstGeom prst="rect">
            <a:avLst/>
          </a:prstGeom>
          <a:solidFill>
            <a:srgbClr val="A41D1F"/>
          </a:solidFill>
          <a:ln w="12700">
            <a:solidFill>
              <a:srgbClr val="A41D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56362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24466E"/>
                </a:solidFill>
              </a:rPr>
              <a:t>Refleksi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275320" y="1929384"/>
            <a:ext cx="306324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202631"/>
                </a:solidFill>
              </a:rPr>
              <a:t>Mengapa pola service lebih siap dikembangkan ke WhatsApp Cloud API pada pertemuan berikutnya?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914400" y="50749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466E"/>
                </a:solidFill>
              </a:rPr>
              <a:t>Pertemuan berikutnya: webhook vs polling, WhatsApp Cloud API, verifikasi webhook, dan tunneling menggunakan ngrok.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24466E"/>
          </a:solidFill>
          <a:ln w="12700">
            <a:solidFill>
              <a:srgbClr val="244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6547104"/>
            <a:ext cx="9875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Pengembangan Aplikasi Web (TI-501) — Program Studi Teknologi Informasi UMY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3796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Universitas Muhammadiyah Yogyakarta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Telegram Bot API, Long Polling, dan DRY</dc:title>
  <dc:subject>TI-501 Pertemuan 13</dc:subject>
  <dc:creator>Program Studi Teknologi Informasi UMY</dc:creator>
  <cp:lastModifiedBy>Program Studi Teknologi Informasi UMY</cp:lastModifiedBy>
  <cp:revision>1</cp:revision>
  <dcterms:created xsi:type="dcterms:W3CDTF">2026-07-21T13:37:54Z</dcterms:created>
  <dcterms:modified xsi:type="dcterms:W3CDTF">2026-07-21T13:37:54Z</dcterms:modified>
</cp:coreProperties>
</file>