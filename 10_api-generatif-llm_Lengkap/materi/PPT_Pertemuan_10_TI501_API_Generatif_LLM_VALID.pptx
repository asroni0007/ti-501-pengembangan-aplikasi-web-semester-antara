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4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498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BF0E"/>
                </a:solidFill>
              </a:rPr>
              <a:t>CPMK52 · API Cerdas · Prompt Engineering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Pertemuan 10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993392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Integrasi API Generatif/LLM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untuk Asisten AI UMKM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378561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1FA"/>
                </a:solidFill>
              </a:rPr>
              <a:t>Keamanan API key · .env · Gemini/OpenAI server-side · konten promosi produk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823960" y="2788920"/>
            <a:ext cx="2377440" cy="1325880"/>
          </a:xfrm>
          <a:prstGeom prst="roundRect">
            <a:avLst>
              <a:gd name="adj" fmla="val 4138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88552" y="2926080"/>
            <a:ext cx="20482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/api/ai/generate-konten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produk_id, gaya, kanal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caption promosi UMKM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5440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A"/>
                </a:solidFill>
              </a:rPr>
              <a:t>Pengembangan Aplikasi Web (TI-501) | Program Studi Teknologi Informasi UMY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Posisi Pertemuan 10 dalam RPS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9418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Fokus: API generatif/LLM, keamanan API key, prompt engineering, dan integrasi server-side.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3474720" cy="4069080"/>
          </a:xfrm>
          <a:prstGeom prst="roundRect">
            <a:avLst>
              <a:gd name="adj" fmla="val 1842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73152" cy="406908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636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Sebelumnya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68680" y="1929384"/>
            <a:ext cx="315468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REST API Express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Koneksi Node.js–MySQL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CRUD produk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Data produk tersimpan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474720" cy="4069080"/>
          </a:xfrm>
          <a:prstGeom prst="roundRect">
            <a:avLst>
              <a:gd name="adj" fmla="val 1842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417320"/>
            <a:ext cx="73152" cy="406908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5636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Hari Ini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617720" y="1929384"/>
            <a:ext cx="315468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Konsep LLM API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API key via .env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Prompt engineering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Generate caption UMKM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3291840" cy="406908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417320"/>
            <a:ext cx="73152" cy="406908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56362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Berikutnya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366760" y="1929384"/>
            <a:ext cx="297180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UI responsif lanjutan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State sederhana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Dynamic rendering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Komponen data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Apa itu API Generatif/LLM?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9418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API generatif menerima instruksi dalam bentuk prompt dan mengembalikan teks, ide, ringkasan, atau rekomendasi.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71600"/>
            <a:ext cx="3337560" cy="3291840"/>
          </a:xfrm>
          <a:prstGeom prst="roundRect">
            <a:avLst>
              <a:gd name="adj" fmla="val 1944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71600"/>
            <a:ext cx="73152" cy="329184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17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Input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60120" y="1883664"/>
            <a:ext cx="301752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Prompt yang berisi role, konteks produk, tugas, batasan, dan format output.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434840" y="1371600"/>
            <a:ext cx="3337560" cy="3291840"/>
          </a:xfrm>
          <a:prstGeom prst="roundRect">
            <a:avLst>
              <a:gd name="adj" fmla="val 1944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371600"/>
            <a:ext cx="73152" cy="329184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517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Proses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617720" y="1883664"/>
            <a:ext cx="301752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Provider AI memproses prompt menggunakan model bahasa besar, misalnya Gemini atau OpenAI.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8092440" y="1371600"/>
            <a:ext cx="3337560" cy="3291840"/>
          </a:xfrm>
          <a:prstGeom prst="roundRect">
            <a:avLst>
              <a:gd name="adj" fmla="val 1944"/>
            </a:avLst>
          </a:prstGeom>
          <a:solidFill>
            <a:srgbClr val="EDF8F2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371600"/>
            <a:ext cx="73152" cy="329184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517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Output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275320" y="1883664"/>
            <a:ext cx="301752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Hasil berupa teks yang perlu ditinjau, disaring, dan ditampilkan di aplikasi.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960120" y="516636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Dalam studi kasus UMKM, AI membantu membuat caption promosi, hashtag, ide visual, dan rekomendasi gaya komunikasi.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Arsitektur Integrasi yang Aman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9418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Frontend tidak menyimpan API key. Semua panggilan AI dilakukan melalui backend Express.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232" y="1216152"/>
            <a:ext cx="10789920" cy="4617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Keamanan API Key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9418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API key adalah kredensial rahasia; perlakukan seperti password.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1207008"/>
            <a:ext cx="10835640" cy="4800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Konfigurasi .env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9418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Gunakan .env untuk konfigurasi lokal dan .env.example untuk contoh yang aman di GitHub.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4434840" cy="2011680"/>
          </a:xfrm>
          <a:prstGeom prst="roundRect">
            <a:avLst>
              <a:gd name="adj" fmla="val 2727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554480"/>
            <a:ext cx="41056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AI_PROVIDER=mock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GEMINI_API_KEY=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OPENAI_API_KEY=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OPENAI_MODEL=gpt-4o-mini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GEMINI_MODEL=gemini-1.5-flash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715000" y="1417320"/>
            <a:ext cx="5257800" cy="2971800"/>
          </a:xfrm>
          <a:prstGeom prst="roundRect">
            <a:avLst>
              <a:gd name="adj" fmla="val 1846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79592" y="1554480"/>
            <a:ext cx="492861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provider = (process.env.AI_PROVIDER || 'mock').toLowerCase();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(provider === 'gemini') {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await panggilGemini(prompt);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(provider === 'openai') {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await panggilOpenAI(prompt);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hasilMock(data);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1051560" y="4434840"/>
            <a:ext cx="4343400" cy="960120"/>
          </a:xfrm>
          <a:prstGeom prst="roundRect">
            <a:avLst>
              <a:gd name="adj" fmla="val 6667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4434840"/>
            <a:ext cx="73152" cy="96012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45811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Prinsip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1234440" y="4946904"/>
            <a:ext cx="40233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Kode boleh dibagikan; nilai rahasia tidak boleh dibagikan.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6080760" y="4617720"/>
            <a:ext cx="4343400" cy="777240"/>
          </a:xfrm>
          <a:prstGeom prst="roundRect">
            <a:avLst>
              <a:gd name="adj" fmla="val 8235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4617720"/>
            <a:ext cx="73152" cy="77724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47640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Mode mock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6263640" y="5129784"/>
            <a:ext cx="40233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Praktikum tetap berjalan tanpa biaya API.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Prompt Engineering: Struktur Minimal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9418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Prompt yang baik membuat output lebih konsisten dan sesuai kebutuhan aplikasi.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7240" y="1234440"/>
            <a:ext cx="10652760" cy="4800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Prompt Lemah vs Prompt Terstruktur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9418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Perbedaan kualitas prompt memengaruhi kualitas hasil AI.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4892040" cy="3566160"/>
          </a:xfrm>
          <a:prstGeom prst="roundRect">
            <a:avLst>
              <a:gd name="adj" fmla="val 1795"/>
            </a:avLst>
          </a:prstGeom>
          <a:solidFill>
            <a:srgbClr val="FDEBED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417320"/>
            <a:ext cx="73152" cy="356616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636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Prompt Lemah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1005840" y="1929384"/>
            <a:ext cx="457200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“Buat promosi produk ini.”</a:t>
            </a:r>
            <a:endParaRPr lang="en-US" sz="1070" dirty="0"/>
          </a:p>
          <a:p>
            <a:pPr indent="0" marL="0">
              <a:buNone/>
            </a:pP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Masalah: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konteks kurang jelas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target tidak disebut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format output bebas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klaim bisa berlebihan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6446520" y="1417320"/>
            <a:ext cx="4892040" cy="3566160"/>
          </a:xfrm>
          <a:prstGeom prst="roundRect">
            <a:avLst>
              <a:gd name="adj" fmla="val 1795"/>
            </a:avLst>
          </a:prstGeom>
          <a:solidFill>
            <a:srgbClr val="EDF8F2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417320"/>
            <a:ext cx="73152" cy="356616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5636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Prompt Terstruktur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629400" y="1929384"/>
            <a:ext cx="457200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“Anda adalah copywriter UMKM. Produk: Brownies Mini. Target: mahasiswa. Buat caption Instagram 80 kata, ramah, sertakan CTA, hashtag, dan ide visual.”</a:t>
            </a:r>
            <a:endParaRPr lang="en-US" sz="1070" dirty="0"/>
          </a:p>
          <a:p>
            <a:pPr indent="0" marL="0">
              <a:buNone/>
            </a:pP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Lebih jelas, terukur, dan mudah diuji.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Desain Endpoint AI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9418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Endpoint AI menerima input terbatas, mengambil data dari database, lalu menyusun prompt di server.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1280160" cy="676656"/>
          </a:xfrm>
          <a:prstGeom prst="rect">
            <a:avLst/>
          </a:prstGeom>
          <a:solidFill>
            <a:srgbClr val="24466E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63677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Method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03120" y="1417320"/>
            <a:ext cx="2743200" cy="676656"/>
          </a:xfrm>
          <a:prstGeom prst="rect">
            <a:avLst/>
          </a:prstGeom>
          <a:solidFill>
            <a:srgbClr val="24466E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57984" y="163677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Endpoint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417320"/>
            <a:ext cx="2926080" cy="676656"/>
          </a:xfrm>
          <a:prstGeom prst="rect">
            <a:avLst/>
          </a:prstGeom>
          <a:solidFill>
            <a:srgbClr val="24466E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01184" y="1636776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Input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1417320"/>
            <a:ext cx="2834640" cy="676656"/>
          </a:xfrm>
          <a:prstGeom prst="rect">
            <a:avLst/>
          </a:prstGeom>
          <a:solidFill>
            <a:srgbClr val="24466E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27264" y="1636776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Output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2093976"/>
            <a:ext cx="128016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231343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631"/>
                </a:solidFill>
              </a:rPr>
              <a:t>POST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03120" y="2093976"/>
            <a:ext cx="274320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57984" y="2313432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631"/>
                </a:solidFill>
              </a:rPr>
              <a:t>/api/ai/generate-konten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2093976"/>
            <a:ext cx="292608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01184" y="2313432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631"/>
                </a:solidFill>
              </a:rPr>
              <a:t>produk_id, gaya, kanal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0" y="2093976"/>
            <a:ext cx="283464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27264" y="2313432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631"/>
                </a:solidFill>
              </a:rPr>
              <a:t>hasil caption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2960" y="2770632"/>
            <a:ext cx="128016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299008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631"/>
                </a:solidFill>
              </a:rPr>
              <a:t>GET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103120" y="2770632"/>
            <a:ext cx="274320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57984" y="299008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631"/>
                </a:solidFill>
              </a:rPr>
              <a:t>/api/produk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2770632"/>
            <a:ext cx="292608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01184" y="2990088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631"/>
                </a:solidFill>
              </a:rPr>
              <a:t>-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772400" y="2770632"/>
            <a:ext cx="283464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27264" y="2990088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631"/>
                </a:solidFill>
              </a:rPr>
              <a:t>daftar produk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960" y="3447288"/>
            <a:ext cx="128016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" y="366674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631"/>
                </a:solidFill>
              </a:rPr>
              <a:t>GET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103120" y="3447288"/>
            <a:ext cx="274320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57984" y="3666744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631"/>
                </a:solidFill>
              </a:rPr>
              <a:t>/api/status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46320" y="3447288"/>
            <a:ext cx="292608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01184" y="3666744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631"/>
                </a:solidFill>
              </a:rPr>
              <a:t>-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772400" y="3447288"/>
            <a:ext cx="283464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3666744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631"/>
                </a:solidFill>
              </a:rPr>
              <a:t>status server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097280" y="4617720"/>
            <a:ext cx="9509760" cy="868680"/>
          </a:xfrm>
          <a:prstGeom prst="roundRect">
            <a:avLst>
              <a:gd name="adj" fmla="val 7368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97280" y="4617720"/>
            <a:ext cx="73152" cy="86868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80160" y="4764024"/>
            <a:ext cx="9189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Catatan desain</a:t>
            </a:r>
            <a:endParaRPr lang="en-US" sz="1420" dirty="0"/>
          </a:p>
        </p:txBody>
      </p:sp>
      <p:sp>
        <p:nvSpPr>
          <p:cNvPr id="40" name="Text 38"/>
          <p:cNvSpPr/>
          <p:nvPr/>
        </p:nvSpPr>
        <p:spPr>
          <a:xfrm>
            <a:off x="1280160" y="5129784"/>
            <a:ext cx="91897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Frontend cukup mengirim id produk dan preferensi gaya. Detail produk diambil oleh server dari MySQL agar prompt lebih konsisten.</a:t>
            </a:r>
            <a:endParaRPr lang="en-US" sz="1070" dirty="0"/>
          </a:p>
        </p:txBody>
      </p:sp>
      <p:sp>
        <p:nvSpPr>
          <p:cNvPr id="41" name="Shape 3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Service Layer untuk AI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9418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Pisahkan route/controller dari logic pemanggilan provider agar mudah diganti.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6172200" cy="4160520"/>
          </a:xfrm>
          <a:prstGeom prst="roundRect">
            <a:avLst>
              <a:gd name="adj" fmla="val 1319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463040"/>
            <a:ext cx="584301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generateKontenProduk({ produk, gaya, kanal }) {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provider = (process.env.AI_PROVIDER || 'mock').toLowerCase();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prompt = buatPromptKontenProduk({ produk, gaya, kanal });</a:t>
            </a:r>
            <a:endParaRPr lang="en-US" sz="990" dirty="0"/>
          </a:p>
          <a:p>
            <a:pPr indent="0" marL="0">
              <a:buNone/>
            </a:pP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(provider === 'gemini') return panggilGemini(prompt);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(provider === 'openai') return panggilOpenAI(prompt);</a:t>
            </a:r>
            <a:endParaRPr lang="en-US" sz="990" dirty="0"/>
          </a:p>
          <a:p>
            <a:pPr indent="0" marL="0">
              <a:buNone/>
            </a:pP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hasilMock({ produk, gaya, kanal });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90" dirty="0"/>
          </a:p>
        </p:txBody>
      </p:sp>
      <p:sp>
        <p:nvSpPr>
          <p:cNvPr id="7" name="Text 5"/>
          <p:cNvSpPr/>
          <p:nvPr/>
        </p:nvSpPr>
        <p:spPr>
          <a:xfrm>
            <a:off x="7360920" y="1481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466E"/>
                </a:solidFill>
              </a:rPr>
              <a:t>Manfaat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60920" y="1828800"/>
            <a:ext cx="3108960" cy="0"/>
          </a:xfrm>
          <a:prstGeom prst="line">
            <a:avLst/>
          </a:prstGeom>
          <a:noFill/>
          <a:ln w="25400">
            <a:solidFill>
              <a:srgbClr val="0F7A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0" y="1984248"/>
            <a:ext cx="384048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Provider mudah diganti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Testing lebih mudah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Controller tetap ringkas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Mode mock bisa dipakai untuk pembelajaran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60920" y="4251960"/>
            <a:ext cx="3840480" cy="960120"/>
          </a:xfrm>
          <a:prstGeom prst="roundRect">
            <a:avLst>
              <a:gd name="adj" fmla="val 6667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60920" y="4251960"/>
            <a:ext cx="73152" cy="96012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43982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Prinsip DRY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7543800" y="4764024"/>
            <a:ext cx="35204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Susun prompt dan pemanggilan AI dalam satu service agar tidak berulang di banyak route.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Controller: Validasi, Query Produk, Generate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9418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Controller menjadi penghubung antara request pengguna, database, dan AI service.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07592"/>
            <a:ext cx="6492240" cy="4251960"/>
          </a:xfrm>
          <a:prstGeom prst="roundRect">
            <a:avLst>
              <a:gd name="adj" fmla="val 1290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44752"/>
            <a:ext cx="6163056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errors = validasiPermintaanKontenAI(req.body);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(errors.length &gt; 0) return res.status(400).json({ detail: errors });</a:t>
            </a:r>
            <a:endParaRPr lang="en-US" sz="890" dirty="0"/>
          </a:p>
          <a:p>
            <a:pPr indent="0" marL="0">
              <a:buNone/>
            </a:pP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[rows] = await pool.query(`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p.*, k.nama AS kategori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produk p JOIN kategori k ON k.id = p.kategori_id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p.id = ?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`, [produkId]);</a:t>
            </a:r>
            <a:endParaRPr lang="en-US" sz="890" dirty="0"/>
          </a:p>
          <a:p>
            <a:pPr indent="0" marL="0">
              <a:buNone/>
            </a:pP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ai = await generateKontenProduk({ produk: rows[0], gaya, kanal });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res.json({ sukses: true, provider: ai.provider, hasil: ai.hasil });</a:t>
            </a:r>
            <a:endParaRPr lang="en-US" sz="890" dirty="0"/>
          </a:p>
        </p:txBody>
      </p:sp>
      <p:sp>
        <p:nvSpPr>
          <p:cNvPr id="7" name="Shape 5"/>
          <p:cNvSpPr/>
          <p:nvPr/>
        </p:nvSpPr>
        <p:spPr>
          <a:xfrm>
            <a:off x="7589520" y="1417320"/>
            <a:ext cx="3566160" cy="960120"/>
          </a:xfrm>
          <a:prstGeom prst="roundRect">
            <a:avLst>
              <a:gd name="adj" fmla="val 6667"/>
            </a:avLst>
          </a:prstGeom>
          <a:solidFill>
            <a:srgbClr val="FDEBED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0" y="1417320"/>
            <a:ext cx="73152" cy="96012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56362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Validasi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7772400" y="1929384"/>
            <a:ext cx="3246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Tolak input kosong, produk_id salah, atau kanal tidak jelas.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7589520" y="2743200"/>
            <a:ext cx="3566160" cy="960120"/>
          </a:xfrm>
          <a:prstGeom prst="roundRect">
            <a:avLst>
              <a:gd name="adj" fmla="val 6667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0" y="2743200"/>
            <a:ext cx="73152" cy="96012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28895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Query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7772400" y="3255264"/>
            <a:ext cx="3246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Ambil data produk lengkap dari MySQL sebelum membuat prompt.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7589520" y="4069080"/>
            <a:ext cx="3566160" cy="960120"/>
          </a:xfrm>
          <a:prstGeom prst="roundRect">
            <a:avLst>
              <a:gd name="adj" fmla="val 6667"/>
            </a:avLst>
          </a:prstGeom>
          <a:solidFill>
            <a:srgbClr val="EDF8F2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9520" y="4069080"/>
            <a:ext cx="73152" cy="96012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421538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Response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7772400" y="4581144"/>
            <a:ext cx="3246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Kirim hasil AI sebagai JSON agar mudah dirender di frontend.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Frontend: Fetch dan Render Hasil AI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9418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Frontend hanya mengirim input dan menampilkan hasil; tidak menyimpan API key.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71600"/>
            <a:ext cx="5806440" cy="3337560"/>
          </a:xfrm>
          <a:prstGeom prst="roundRect">
            <a:avLst>
              <a:gd name="adj" fmla="val 1644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508760"/>
            <a:ext cx="547725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response = await fetch('/api/ai/generate-konten', {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method: 'POST',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headers: { 'Content-Type': 'application/json' },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body: JSON.stringify({ produk_id, gaya, kanal })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result = await response.json();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hasilEl.textContent = result.hasil;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7040880" y="14813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466E"/>
                </a:solidFill>
              </a:rPr>
              <a:t>Interaksi UI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040880" y="1828800"/>
            <a:ext cx="3108960" cy="0"/>
          </a:xfrm>
          <a:prstGeom prst="line">
            <a:avLst/>
          </a:prstGeom>
          <a:noFill/>
          <a:ln w="25400">
            <a:solidFill>
              <a:srgbClr val="FDBF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984248"/>
            <a:ext cx="411480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Dropdown produk dari database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Input gaya dan kanal promosi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Tombol generate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Loading state saat menunggu 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Area output untuk caption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43000" y="5074920"/>
            <a:ext cx="9509760" cy="640080"/>
          </a:xfrm>
          <a:prstGeom prst="roundRect">
            <a:avLst>
              <a:gd name="adj" fmla="val 10000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5074920"/>
            <a:ext cx="73152" cy="64008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5221224"/>
            <a:ext cx="9189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Catatan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1325880" y="5586984"/>
            <a:ext cx="918972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Saat provider lambat, tampilkan pesan loading agar pengguna tahu aplikasi sedang memproses.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Risiko Penggunaan AI pada Konten UMKM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9418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Hasil AI perlu ditinjau sebelum dipakai untuk publikasi.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3337560" cy="3520440"/>
          </a:xfrm>
          <a:prstGeom prst="roundRect">
            <a:avLst>
              <a:gd name="adj" fmla="val 1918"/>
            </a:avLst>
          </a:prstGeom>
          <a:solidFill>
            <a:srgbClr val="FDEBED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73152" cy="352044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636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Akurasi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60120" y="1929384"/>
            <a:ext cx="3017520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AI bisa membuat klaim yang tidak sesuai produk. Validasi harga, stok, dan manfaat.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337560" cy="3520440"/>
          </a:xfrm>
          <a:prstGeom prst="roundRect">
            <a:avLst>
              <a:gd name="adj" fmla="val 1918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417320"/>
            <a:ext cx="73152" cy="352044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5636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Privasi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617720" y="1929384"/>
            <a:ext cx="3017520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Jangan kirim data sensitif pelanggan atau rahasia usaha ke prompt.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8092440" y="1417320"/>
            <a:ext cx="3337560" cy="3520440"/>
          </a:xfrm>
          <a:prstGeom prst="roundRect">
            <a:avLst>
              <a:gd name="adj" fmla="val 1918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417320"/>
            <a:ext cx="73152" cy="352044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5636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Brand Voice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275320" y="1929384"/>
            <a:ext cx="3017520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Sesuaikan gaya bahasa dengan identitas UMKM dan target pasar.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960120" y="53492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Prinsip praktikum: AI adalah asisten, bukan pengganti penilaian manusia.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Panduan Praktikum 50 Menit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9418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Target akhir: fitur generate konten AI berjalan dari frontend sampai database.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325880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45389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0–10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57400" y="1417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66E"/>
                </a:solidFill>
              </a:rPr>
              <a:t>Jalankan schema.sql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14173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Data produk siap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2075688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2037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631"/>
                </a:solidFill>
              </a:rPr>
              <a:t>10–20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7400" y="2167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66E"/>
                </a:solidFill>
              </a:rPr>
              <a:t>Konfigurasi .env dan npm install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21671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Server aktif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2825496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95351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20–30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57400" y="2916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66E"/>
                </a:solidFill>
              </a:rPr>
              <a:t>Uji mode mock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291693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Endpoint AI berhasil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3575304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7033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631"/>
                </a:solidFill>
              </a:rPr>
              <a:t>30–40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57400" y="36667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66E"/>
                </a:solidFill>
              </a:rPr>
              <a:t>Analisis dan ubah prompt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36667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Output lebih sesuai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8680" y="4325112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44531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40–50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57400" y="44165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66E"/>
                </a:solidFill>
              </a:rPr>
              <a:t>Frontend + screenshot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44165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Bukti praktikum lengkap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0120" y="5440680"/>
            <a:ext cx="996696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" y="5440680"/>
            <a:ext cx="73152" cy="59436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586984"/>
            <a:ext cx="9646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Output akhir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1143000" y="5952744"/>
            <a:ext cx="9646920" cy="-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Aplikasi dapat membuat caption promosi produk dengan provider mock/gemini/openai dan menyimpan hasil ke tabel konten_ai.</a:t>
            </a:r>
            <a:endParaRPr lang="en-US" sz="1070" dirty="0"/>
          </a:p>
        </p:txBody>
      </p:sp>
      <p:sp>
        <p:nvSpPr>
          <p:cNvPr id="29" name="Shape 2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Penutup dan Tugas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9418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Pertemuan 10 mengubah aplikasi CRUD menjadi aplikasi cerdas berbasis AI API.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3383280" cy="2971800"/>
          </a:xfrm>
          <a:prstGeom prst="roundRect">
            <a:avLst>
              <a:gd name="adj" fmla="val 2154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73152" cy="297180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636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Rangkuman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60120" y="1929384"/>
            <a:ext cx="306324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API generatif dipanggil dari server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API key disimpan di .env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Prompt harus terstruktur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Output perlu ditinjau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383280" cy="2971800"/>
          </a:xfrm>
          <a:prstGeom prst="roundRect">
            <a:avLst>
              <a:gd name="adj" fmla="val 2154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417320"/>
            <a:ext cx="73152" cy="297180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5636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Tugas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617720" y="1929384"/>
            <a:ext cx="306324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Lengkapi fitur generate konten, bandingkan dua gaya prompt, simpan hasil ke database, dan kumpulkan screenshot.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8092440" y="1417320"/>
            <a:ext cx="3383280" cy="2971800"/>
          </a:xfrm>
          <a:prstGeom prst="roundRect">
            <a:avLst>
              <a:gd name="adj" fmla="val 2154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417320"/>
            <a:ext cx="73152" cy="297180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5636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Refleksi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275320" y="1929384"/>
            <a:ext cx="306324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Bagaimana cara menjaga agar AI membantu promosi UMKM tanpa membuat klaim berlebihan?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914400" y="50749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Pertemuan berikutnya: desain UI responsif lanjutan, state sederhana, dan dynamic rendering.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Universitas Muhammadiyah Yogyakarta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Integrasi API Generatif/LLM</dc:title>
  <dc:subject>TI-501 Pertemuan 10</dc:subject>
  <dc:creator>Program Studi Teknologi Informasi UMY</dc:creator>
  <cp:lastModifiedBy>Program Studi Teknologi Informasi UMY</cp:lastModifiedBy>
  <cp:revision>1</cp:revision>
  <dcterms:created xsi:type="dcterms:W3CDTF">2026-07-21T13:20:25Z</dcterms:created>
  <dcterms:modified xsi:type="dcterms:W3CDTF">2026-07-21T13:20:25Z</dcterms:modified>
</cp:coreProperties>
</file>