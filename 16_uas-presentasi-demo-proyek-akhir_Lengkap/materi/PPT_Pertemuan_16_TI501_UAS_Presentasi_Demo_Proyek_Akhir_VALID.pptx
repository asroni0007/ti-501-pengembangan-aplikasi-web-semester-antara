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4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74980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BF0E"/>
                </a:solidFill>
              </a:rPr>
              <a:t>CPMK51 · CPMK52 · CPMK53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Pertemuan 16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993392"/>
            <a:ext cx="7635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UAS: Presentasi, Demo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Evaluasi, dan Refleksi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Proyek Akhir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58368" y="5440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A"/>
                </a:solidFill>
              </a:rPr>
              <a:t>Pengembangan Aplikasi Web (TI-501) | Program Studi Teknologi Informasi UMY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641080" y="1828800"/>
            <a:ext cx="2743200" cy="2194560"/>
          </a:xfrm>
          <a:prstGeom prst="roundRect">
            <a:avLst>
              <a:gd name="adj" fmla="val 2917"/>
            </a:avLst>
          </a:prstGeom>
          <a:solidFill>
            <a:srgbClr val="FFF6D8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41080" y="1828800"/>
            <a:ext cx="73152" cy="219456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23960" y="19659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Output UAS</a:t>
            </a:r>
            <a:endParaRPr lang="en-US" sz="1420" dirty="0"/>
          </a:p>
        </p:txBody>
      </p:sp>
      <p:sp>
        <p:nvSpPr>
          <p:cNvPr id="10" name="Text 8"/>
          <p:cNvSpPr/>
          <p:nvPr/>
        </p:nvSpPr>
        <p:spPr>
          <a:xfrm>
            <a:off x="8823960" y="2340864"/>
            <a:ext cx="242316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Repo GitHub, aplikasi/demo, README, testing, deployment, laporan final, dan refleksi.</a:t>
            </a:r>
            <a:endParaRPr lang="en-US" sz="1060" dirty="0"/>
          </a:p>
        </p:txBody>
      </p:sp>
      <p:sp>
        <p:nvSpPr>
          <p:cNvPr id="11" name="Text 9"/>
          <p:cNvSpPr/>
          <p:nvPr/>
        </p:nvSpPr>
        <p:spPr>
          <a:xfrm>
            <a:off x="1143000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4466E"/>
                </a:solidFill>
              </a:rPr>
              <a:t>Posisi Pertemuan 16 dalam RPS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Pertemuan akhir digunakan untuk mengukur ketercapaian CPMK melalui artefak proyek.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53312"/>
            <a:ext cx="3383280" cy="3977640"/>
          </a:xfrm>
          <a:prstGeom prst="roundRect">
            <a:avLst>
              <a:gd name="adj" fmla="val 1892"/>
            </a:avLst>
          </a:prstGeom>
          <a:solidFill>
            <a:srgbClr val="EAF1FA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353312"/>
            <a:ext cx="73152" cy="3977640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49047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CPMK51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60120" y="1865376"/>
            <a:ext cx="3063240" cy="3337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Struktur HTML/CSS/JavaScript, UI responsif, interaksi pengguna, dan kualitas tampilan aplikasi.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4434840" y="1353312"/>
            <a:ext cx="3383280" cy="3977640"/>
          </a:xfrm>
          <a:prstGeom prst="roundRect">
            <a:avLst>
              <a:gd name="adj" fmla="val 1892"/>
            </a:avLst>
          </a:prstGeom>
          <a:solidFill>
            <a:srgbClr val="FFF6D8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353312"/>
            <a:ext cx="73152" cy="397764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49047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CPMK52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4617720" y="1865376"/>
            <a:ext cx="3063240" cy="3337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Backend Node.js/Express, REST API, database, integrasi layanan, dan alur client-server.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8092440" y="1353312"/>
            <a:ext cx="3383280" cy="3977640"/>
          </a:xfrm>
          <a:prstGeom prst="roundRect">
            <a:avLst>
              <a:gd name="adj" fmla="val 1892"/>
            </a:avLst>
          </a:prstGeom>
          <a:solidFill>
            <a:srgbClr val="EDF8F2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1353312"/>
            <a:ext cx="73152" cy="397764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149047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CPMK53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8275320" y="1865376"/>
            <a:ext cx="3063240" cy="3337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Keamanan dasar, pengujian, dokumentasi, deployment, chatbot/API, dan presentasi teknis.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4466E"/>
                </a:solidFill>
              </a:rPr>
              <a:t>Alur Pelaksanaan UAS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Mahasiswa dinilai dari proses presentasi, demo, tanya jawab, dan bukti artefak.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800" y="1207008"/>
            <a:ext cx="10835640" cy="4617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4466E"/>
                </a:solidFill>
              </a:rPr>
              <a:t>Apa yang Dinilai?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Fokus UAS bukan hanya aplikasi terlihat jalan, tetapi apakah aplikasi dapat dijelaskan, diuji, dan digunakan ulang.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2606040" cy="3337560"/>
          </a:xfrm>
          <a:prstGeom prst="roundRect">
            <a:avLst>
              <a:gd name="adj" fmla="val 2456"/>
            </a:avLst>
          </a:prstGeom>
          <a:solidFill>
            <a:srgbClr val="EAF1FA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25880"/>
            <a:ext cx="73152" cy="3337560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63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Produk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868680" y="1837944"/>
            <a:ext cx="228600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Fitur inti berjalan dan menyelesaikan masalah pengguna.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3611880" y="1325880"/>
            <a:ext cx="2606040" cy="3337560"/>
          </a:xfrm>
          <a:prstGeom prst="roundRect">
            <a:avLst>
              <a:gd name="adj" fmla="val 2456"/>
            </a:avLst>
          </a:prstGeom>
          <a:solidFill>
            <a:srgbClr val="FFF6D8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11880" y="1325880"/>
            <a:ext cx="73152" cy="333756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94760" y="1463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Proses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3794760" y="1837944"/>
            <a:ext cx="228600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Keputusan teknis dapat dijelaskan dan ada bukti kontribusi.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6537960" y="1325880"/>
            <a:ext cx="2606040" cy="3337560"/>
          </a:xfrm>
          <a:prstGeom prst="roundRect">
            <a:avLst>
              <a:gd name="adj" fmla="val 2456"/>
            </a:avLst>
          </a:prstGeom>
          <a:solidFill>
            <a:srgbClr val="EDF8F2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7960" y="1325880"/>
            <a:ext cx="73152" cy="333756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1463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Bukti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6720840" y="1837944"/>
            <a:ext cx="228600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Repo, README, test, screenshot, dan link deployment tersedia.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9464040" y="1325880"/>
            <a:ext cx="1965960" cy="3337560"/>
          </a:xfrm>
          <a:prstGeom prst="roundRect">
            <a:avLst>
              <a:gd name="adj" fmla="val 3256"/>
            </a:avLst>
          </a:prstGeom>
          <a:solidFill>
            <a:srgbClr val="FDEBED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64040" y="1325880"/>
            <a:ext cx="73152" cy="3337560"/>
          </a:xfrm>
          <a:prstGeom prst="rect">
            <a:avLst/>
          </a:prstGeom>
          <a:solidFill>
            <a:srgbClr val="A41D1F"/>
          </a:solidFill>
          <a:ln w="12700">
            <a:solidFill>
              <a:srgbClr val="A41D1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46920" y="14630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Refleksi</a:t>
            </a:r>
            <a:endParaRPr lang="en-US" sz="1420" dirty="0"/>
          </a:p>
        </p:txBody>
      </p:sp>
      <p:sp>
        <p:nvSpPr>
          <p:cNvPr id="20" name="Text 18"/>
          <p:cNvSpPr/>
          <p:nvPr/>
        </p:nvSpPr>
        <p:spPr>
          <a:xfrm>
            <a:off x="9646920" y="1837944"/>
            <a:ext cx="164592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Kendala dan perbaikan jelas.</a:t>
            </a:r>
            <a:endParaRPr lang="en-US" sz="1060" dirty="0"/>
          </a:p>
        </p:txBody>
      </p:sp>
      <p:sp>
        <p:nvSpPr>
          <p:cNvPr id="21" name="Text 19"/>
          <p:cNvSpPr/>
          <p:nvPr/>
        </p:nvSpPr>
        <p:spPr>
          <a:xfrm>
            <a:off x="960120" y="516636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Nilai terbaik muncul dari kombinasi aplikasi yang berjalan, penjelasan teknis yang jujur, dan dokumentasi yang rapi.</a:t>
            </a:r>
            <a:endParaRPr lang="en-US" sz="1420" dirty="0"/>
          </a:p>
        </p:txBody>
      </p:sp>
      <p:sp>
        <p:nvSpPr>
          <p:cNvPr id="22" name="Shap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4466E"/>
                </a:solidFill>
              </a:rPr>
              <a:t>Komponen Proyek Akhir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Mahasiswa perlu menunjukkan keterhubungan komponen, bukan hanya potongan fitur terpisah.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9808" y="1234440"/>
            <a:ext cx="10744200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4466E"/>
                </a:solidFill>
              </a:rPr>
              <a:t>Syarat Demo yang Baik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Demo harus singkat, terarah, dan menggunakan skenario pengguna yang realistis.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466E"/>
                </a:solidFill>
              </a:rPr>
              <a:t>Sebelum Demo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1764792"/>
            <a:ext cx="3108960" cy="0"/>
          </a:xfrm>
          <a:prstGeom prst="line">
            <a:avLst/>
          </a:prstGeom>
          <a:noFill/>
          <a:ln w="25400">
            <a:solidFill>
              <a:srgbClr val="0F7A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20240"/>
            <a:ext cx="480060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Aplikasi sudah login/jalan sebelum giliran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Data contoh sudah disiapkan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Link repo dan deployment dibuka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Video cadangan tersedia bila internet tidak stabil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0" y="14173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466E"/>
                </a:solidFill>
              </a:rPr>
              <a:t>Saat Demo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0" y="1764792"/>
            <a:ext cx="3108960" cy="0"/>
          </a:xfrm>
          <a:prstGeom prst="line">
            <a:avLst/>
          </a:prstGeom>
          <a:noFill/>
          <a:ln w="25400">
            <a:solidFill>
              <a:srgbClr val="FDBF0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920240"/>
            <a:ext cx="484632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Mulai dari masalah pengguna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Jalankan fitur utama end-to-end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Tunjukkan validasi dan error handling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Tunjukkan data/API bila diminta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60120" y="5212080"/>
            <a:ext cx="9966960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5212080"/>
            <a:ext cx="73152" cy="585216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5349240"/>
            <a:ext cx="9646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Prinsip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1143000" y="5724144"/>
            <a:ext cx="9646920" cy="-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Demo terbaik adalah demo yang membuktikan manfaat aplikasi dengan alur yang mudah diikuti.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4466E"/>
                </a:solidFill>
              </a:rPr>
              <a:t>Struktur Slide Presentasi Kelompok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Gunakan 7-10 slide. Hindari terlalu banyak teks dan fokus pada bukti proyek.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280160"/>
            <a:ext cx="420624" cy="420624"/>
          </a:xfrm>
          <a:prstGeom prst="ellipse">
            <a:avLst/>
          </a:prstGeom>
          <a:solidFill>
            <a:srgbClr val="0F7A4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38988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1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1508760" y="1353312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202631"/>
                </a:solidFill>
              </a:rPr>
              <a:t>Masalah pengguna dan tujuan aplikasi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868680" y="1938528"/>
            <a:ext cx="420624" cy="420624"/>
          </a:xfrm>
          <a:prstGeom prst="ellipse">
            <a:avLst/>
          </a:prstGeom>
          <a:solidFill>
            <a:srgbClr val="FDBF0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048256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2631"/>
                </a:solidFill>
              </a:rPr>
              <a:t>2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1508760" y="201168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202631"/>
                </a:solidFill>
              </a:rPr>
              <a:t>Rancangan solusi dan arsitektur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868680" y="2596896"/>
            <a:ext cx="420624" cy="420624"/>
          </a:xfrm>
          <a:prstGeom prst="ellipse">
            <a:avLst/>
          </a:prstGeom>
          <a:solidFill>
            <a:srgbClr val="244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2706624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3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1508760" y="2670048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202631"/>
                </a:solidFill>
              </a:rPr>
              <a:t>Fitur utama dan alur pengguna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868680" y="3255264"/>
            <a:ext cx="420624" cy="420624"/>
          </a:xfrm>
          <a:prstGeom prst="ellipse">
            <a:avLst/>
          </a:prstGeom>
          <a:solidFill>
            <a:srgbClr val="0F7A4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3364992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4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1508760" y="3328416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202631"/>
                </a:solidFill>
              </a:rPr>
              <a:t>Backend, database, dan API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868680" y="3913632"/>
            <a:ext cx="420624" cy="420624"/>
          </a:xfrm>
          <a:prstGeom prst="ellipse">
            <a:avLst/>
          </a:prstGeom>
          <a:solidFill>
            <a:srgbClr val="FDBF0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402336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2631"/>
                </a:solidFill>
              </a:rPr>
              <a:t>5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1508760" y="3986784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202631"/>
                </a:solidFill>
              </a:rPr>
              <a:t>Integrasi AI/chatbot bila ada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868680" y="4572000"/>
            <a:ext cx="420624" cy="420624"/>
          </a:xfrm>
          <a:prstGeom prst="ellipse">
            <a:avLst/>
          </a:prstGeom>
          <a:solidFill>
            <a:srgbClr val="244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468172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6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1508760" y="4645152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202631"/>
                </a:solidFill>
              </a:rPr>
              <a:t>Keamanan, testing, dan deployment</a:t>
            </a:r>
            <a:endParaRPr lang="en-US" sz="1320" dirty="0"/>
          </a:p>
        </p:txBody>
      </p:sp>
      <p:sp>
        <p:nvSpPr>
          <p:cNvPr id="23" name="Shape 21"/>
          <p:cNvSpPr/>
          <p:nvPr/>
        </p:nvSpPr>
        <p:spPr>
          <a:xfrm>
            <a:off x="868680" y="5230368"/>
            <a:ext cx="420624" cy="420624"/>
          </a:xfrm>
          <a:prstGeom prst="ellipse">
            <a:avLst/>
          </a:prstGeom>
          <a:solidFill>
            <a:srgbClr val="0F7A4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5340096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7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1508760" y="530352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202631"/>
                </a:solidFill>
              </a:rPr>
              <a:t>Kontribusi, kendala, dan rencana lanjut</a:t>
            </a:r>
            <a:endParaRPr lang="en-US" sz="1320" dirty="0"/>
          </a:p>
        </p:txBody>
      </p:sp>
      <p:sp>
        <p:nvSpPr>
          <p:cNvPr id="26" name="Shape 2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4466E"/>
                </a:solidFill>
              </a:rPr>
              <a:t>Rubrik Penilaian UAS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Bobot dapat disesuaikan, tetapi aspek utama perlu tetap berbasis bukti proyek.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188720"/>
            <a:ext cx="10561320" cy="4617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4466E"/>
                </a:solidFill>
              </a:rPr>
              <a:t>Artefak yang Harus Disiapkan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Setiap kelompok perlu menyiapkan bukti yang bisa dibuka dan diverifikasi saat UAS.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25880"/>
            <a:ext cx="3383280" cy="3474720"/>
          </a:xfrm>
          <a:prstGeom prst="roundRect">
            <a:avLst>
              <a:gd name="adj" fmla="val 1892"/>
            </a:avLst>
          </a:prstGeom>
          <a:solidFill>
            <a:srgbClr val="EAF1FA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325880"/>
            <a:ext cx="73152" cy="3474720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46304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Repository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60120" y="1837944"/>
            <a:ext cx="306324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Struktur folder rapi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Commit tersedia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Tidak ada secret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README final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4434840" y="1325880"/>
            <a:ext cx="3383280" cy="3474720"/>
          </a:xfrm>
          <a:prstGeom prst="roundRect">
            <a:avLst>
              <a:gd name="adj" fmla="val 1892"/>
            </a:avLst>
          </a:prstGeom>
          <a:solidFill>
            <a:srgbClr val="FFF6D8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325880"/>
            <a:ext cx="73152" cy="347472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46304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Aplikasi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4617720" y="1837944"/>
            <a:ext cx="306324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Local run / deploy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Data demo siap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Fitur utama jalan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Error handling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8092440" y="1325880"/>
            <a:ext cx="3383280" cy="3474720"/>
          </a:xfrm>
          <a:prstGeom prst="roundRect">
            <a:avLst>
              <a:gd name="adj" fmla="val 1892"/>
            </a:avLst>
          </a:prstGeom>
          <a:solidFill>
            <a:srgbClr val="EDF8F2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1325880"/>
            <a:ext cx="73152" cy="347472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146304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Bukti Teknis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8275320" y="1837944"/>
            <a:ext cx="306324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Test result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Endpoint/API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Database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Screenshot/video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4466E"/>
                </a:solidFill>
              </a:rPr>
              <a:t>Contoh Pertanyaan Verifikasi Teknis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Pertanyaan digunakan untuk memastikan pemahaman dan kontribusi anggota, bukan mencari kesalahan kecil.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466E"/>
                </a:solidFill>
              </a:rPr>
              <a:t>Frontend &amp; UX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1764792"/>
            <a:ext cx="3108960" cy="0"/>
          </a:xfrm>
          <a:prstGeom prst="line">
            <a:avLst/>
          </a:prstGeom>
          <a:noFill/>
          <a:ln w="25400">
            <a:solidFill>
              <a:srgbClr val="244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20240"/>
            <a:ext cx="475488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Mengapa memilih alur pengguna tersebut?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Bagaimana validasi input dilakukan di sisi client?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Bagaimana tampilan dibuat responsif?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0" y="14173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466E"/>
                </a:solidFill>
              </a:rPr>
              <a:t>Backend &amp; Data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0" y="1764792"/>
            <a:ext cx="3108960" cy="0"/>
          </a:xfrm>
          <a:prstGeom prst="line">
            <a:avLst/>
          </a:prstGeom>
          <a:noFill/>
          <a:ln w="25400">
            <a:solidFill>
              <a:srgbClr val="0F7A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920240"/>
            <a:ext cx="475488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Endpoint mana yang paling penting?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Bagaimana data disimpan dan dibaca?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Bagaimana menangani error dari API eksternal?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397764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466E"/>
                </a:solidFill>
              </a:rPr>
              <a:t>Testing &amp; Deploy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77240" y="4325112"/>
            <a:ext cx="3108960" cy="0"/>
          </a:xfrm>
          <a:prstGeom prst="line">
            <a:avLst/>
          </a:prstGeom>
          <a:noFill/>
          <a:ln w="25400">
            <a:solidFill>
              <a:srgbClr val="A41D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480560"/>
            <a:ext cx="1033272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Skenario apa yang sudah diuji?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Apa perbedaan env lokal dan production?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Apa risiko keamanan yang sudah diantisipasi?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4466E"/>
                </a:solidFill>
              </a:rPr>
              <a:t>Menilai Kontribusi Anggota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Setiap anggota perlu bisa menjelaskan bagian yang dikerjakan dan keputusan teknisnya.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71600"/>
            <a:ext cx="3337560" cy="3566160"/>
          </a:xfrm>
          <a:prstGeom prst="roundRect">
            <a:avLst>
              <a:gd name="adj" fmla="val 1918"/>
            </a:avLst>
          </a:prstGeom>
          <a:solidFill>
            <a:srgbClr val="EAF1FA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371600"/>
            <a:ext cx="73152" cy="3566160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087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Bukti Kontribusi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60120" y="1883664"/>
            <a:ext cx="3017520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Commit, file yang dikerjakan, dokumentasi, desain, test, atau bagian demo yang menjadi tanggung jawab.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4434840" y="1371600"/>
            <a:ext cx="3337560" cy="3566160"/>
          </a:xfrm>
          <a:prstGeom prst="roundRect">
            <a:avLst>
              <a:gd name="adj" fmla="val 1918"/>
            </a:avLst>
          </a:prstGeom>
          <a:solidFill>
            <a:srgbClr val="FFF6D8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371600"/>
            <a:ext cx="73152" cy="356616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5087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Pemahaman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4617720" y="1883664"/>
            <a:ext cx="3017520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Anggota mampu menjelaskan fungsi kode, alur data, keputusan UI, atau integrasi yang dibuat.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8092440" y="1371600"/>
            <a:ext cx="3337560" cy="3566160"/>
          </a:xfrm>
          <a:prstGeom prst="roundRect">
            <a:avLst>
              <a:gd name="adj" fmla="val 1918"/>
            </a:avLst>
          </a:prstGeom>
          <a:solidFill>
            <a:srgbClr val="EDF8F2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1371600"/>
            <a:ext cx="73152" cy="356616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15087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Kolaborasi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8275320" y="1883664"/>
            <a:ext cx="3017520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Kelompok dapat menunjukkan pembagian peran dan cara menyelesaikan kendala bersama.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4466E"/>
                </a:solidFill>
              </a:rPr>
              <a:t>Contoh Alokasi Waktu Kelas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Sesuaikan durasi dengan jumlah kelompok. Prioritaskan demo dan verifikasi artefak.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325880"/>
            <a:ext cx="960120" cy="457200"/>
          </a:xfrm>
          <a:prstGeom prst="roundRect">
            <a:avLst>
              <a:gd name="adj" fmla="val 8000"/>
            </a:avLst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463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0-10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057400" y="1325880"/>
            <a:ext cx="9052560" cy="457200"/>
          </a:xfrm>
          <a:prstGeom prst="roundRect">
            <a:avLst>
              <a:gd name="adj" fmla="val 8000"/>
            </a:avLst>
          </a:prstGeom>
          <a:solidFill>
            <a:srgbClr val="EAF1FA"/>
          </a:solidFill>
          <a:ln w="7620">
            <a:solidFill>
              <a:srgbClr val="D8E2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40280" y="1408176"/>
            <a:ext cx="4069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4466E"/>
                </a:solidFill>
              </a:rPr>
              <a:t>Pembukaan dan arahan rubrik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6629400" y="1417320"/>
            <a:ext cx="4160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2631"/>
                </a:solidFill>
              </a:rPr>
              <a:t>Aturan UAS dipahami</a:t>
            </a:r>
            <a:endParaRPr lang="en-US" sz="1110" dirty="0"/>
          </a:p>
        </p:txBody>
      </p:sp>
      <p:sp>
        <p:nvSpPr>
          <p:cNvPr id="10" name="Shape 8"/>
          <p:cNvSpPr/>
          <p:nvPr/>
        </p:nvSpPr>
        <p:spPr>
          <a:xfrm>
            <a:off x="868680" y="2057400"/>
            <a:ext cx="960120" cy="457200"/>
          </a:xfrm>
          <a:prstGeom prst="roundRect">
            <a:avLst>
              <a:gd name="adj" fmla="val 8000"/>
            </a:avLst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21945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02631"/>
                </a:solidFill>
              </a:rPr>
              <a:t>10-70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057400" y="2057400"/>
            <a:ext cx="9052560" cy="457200"/>
          </a:xfrm>
          <a:prstGeom prst="roundRect">
            <a:avLst>
              <a:gd name="adj" fmla="val 8000"/>
            </a:avLst>
          </a:prstGeom>
          <a:solidFill>
            <a:srgbClr val="FFF6D8"/>
          </a:solidFill>
          <a:ln w="7620">
            <a:solidFill>
              <a:srgbClr val="D8E2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40280" y="2139696"/>
            <a:ext cx="4069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4466E"/>
                </a:solidFill>
              </a:rPr>
              <a:t>Presentasi + demo kelompok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6629400" y="2148840"/>
            <a:ext cx="4160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2631"/>
                </a:solidFill>
              </a:rPr>
              <a:t>Aplikasi dan bukti terlihat</a:t>
            </a:r>
            <a:endParaRPr lang="en-US" sz="1110" dirty="0"/>
          </a:p>
        </p:txBody>
      </p:sp>
      <p:sp>
        <p:nvSpPr>
          <p:cNvPr id="15" name="Shape 13"/>
          <p:cNvSpPr/>
          <p:nvPr/>
        </p:nvSpPr>
        <p:spPr>
          <a:xfrm>
            <a:off x="868680" y="2788920"/>
            <a:ext cx="960120" cy="457200"/>
          </a:xfrm>
          <a:prstGeom prst="roundRect">
            <a:avLst>
              <a:gd name="adj" fmla="val 8000"/>
            </a:avLst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29260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70-90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057400" y="2788920"/>
            <a:ext cx="9052560" cy="457200"/>
          </a:xfrm>
          <a:prstGeom prst="roundRect">
            <a:avLst>
              <a:gd name="adj" fmla="val 8000"/>
            </a:avLst>
          </a:prstGeom>
          <a:solidFill>
            <a:srgbClr val="EAF1FA"/>
          </a:solidFill>
          <a:ln w="7620">
            <a:solidFill>
              <a:srgbClr val="D8E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40280" y="2871216"/>
            <a:ext cx="4069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4466E"/>
                </a:solidFill>
              </a:rPr>
              <a:t>Tanya jawab dan verifikasi artefak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6629400" y="2880360"/>
            <a:ext cx="4160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2631"/>
                </a:solidFill>
              </a:rPr>
              <a:t>Pemahaman teknis terkonfirmasi</a:t>
            </a:r>
            <a:endParaRPr lang="en-US" sz="1110" dirty="0"/>
          </a:p>
        </p:txBody>
      </p:sp>
      <p:sp>
        <p:nvSpPr>
          <p:cNvPr id="20" name="Shape 18"/>
          <p:cNvSpPr/>
          <p:nvPr/>
        </p:nvSpPr>
        <p:spPr>
          <a:xfrm>
            <a:off x="868680" y="3520440"/>
            <a:ext cx="960120" cy="457200"/>
          </a:xfrm>
          <a:prstGeom prst="roundRect">
            <a:avLst>
              <a:gd name="adj" fmla="val 8000"/>
            </a:avLst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" y="36576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02631"/>
                </a:solidFill>
              </a:rPr>
              <a:t>90-100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057400" y="3520440"/>
            <a:ext cx="9052560" cy="457200"/>
          </a:xfrm>
          <a:prstGeom prst="roundRect">
            <a:avLst>
              <a:gd name="adj" fmla="val 8000"/>
            </a:avLst>
          </a:prstGeom>
          <a:solidFill>
            <a:srgbClr val="FFF6D8"/>
          </a:solidFill>
          <a:ln w="7620">
            <a:solidFill>
              <a:srgbClr val="D8E2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40280" y="3602736"/>
            <a:ext cx="4069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4466E"/>
                </a:solidFill>
              </a:rPr>
              <a:t>Refleksi dan penutup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6629400" y="3611880"/>
            <a:ext cx="4160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2631"/>
                </a:solidFill>
              </a:rPr>
              <a:t>Pengumpulan final jelas</a:t>
            </a:r>
            <a:endParaRPr lang="en-US" sz="1110" dirty="0"/>
          </a:p>
        </p:txBody>
      </p:sp>
      <p:sp>
        <p:nvSpPr>
          <p:cNvPr id="25" name="Shape 23"/>
          <p:cNvSpPr/>
          <p:nvPr/>
        </p:nvSpPr>
        <p:spPr>
          <a:xfrm>
            <a:off x="960120" y="4800600"/>
            <a:ext cx="99669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0120" y="4800600"/>
            <a:ext cx="73152" cy="658368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4937760"/>
            <a:ext cx="9646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Catatan</a:t>
            </a:r>
            <a:endParaRPr lang="en-US" sz="1420" dirty="0"/>
          </a:p>
        </p:txBody>
      </p:sp>
      <p:sp>
        <p:nvSpPr>
          <p:cNvPr id="28" name="Text 26"/>
          <p:cNvSpPr/>
          <p:nvPr/>
        </p:nvSpPr>
        <p:spPr>
          <a:xfrm>
            <a:off x="1143000" y="5312664"/>
            <a:ext cx="9646920" cy="18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Jika kelompok banyak, UAS dapat dibagi menjadi sesi presentasi singkat dan sesi verifikasi repo secara bergiliran.</a:t>
            </a:r>
            <a:endParaRPr lang="en-US" sz="1060" dirty="0"/>
          </a:p>
        </p:txBody>
      </p:sp>
      <p:sp>
        <p:nvSpPr>
          <p:cNvPr id="29" name="Shape 2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4466E"/>
                </a:solidFill>
              </a:rPr>
              <a:t>Refleksi Akhir Pembelajaran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Refleksi menghubungkan pengalaman proyek dengan capaian pembelajaran.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7240" y="1261872"/>
            <a:ext cx="10652760" cy="4343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4466E"/>
                </a:solidFill>
              </a:rPr>
              <a:t>Kesalahan Umum Saat UAS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Gunakan daftar ini sebagai antisipasi sebelum presentasi dimulai.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25880"/>
            <a:ext cx="3383280" cy="3611880"/>
          </a:xfrm>
          <a:prstGeom prst="roundRect">
            <a:avLst>
              <a:gd name="adj" fmla="val 1892"/>
            </a:avLst>
          </a:prstGeom>
          <a:solidFill>
            <a:srgbClr val="FDEBED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325880"/>
            <a:ext cx="73152" cy="3611880"/>
          </a:xfrm>
          <a:prstGeom prst="rect">
            <a:avLst/>
          </a:prstGeom>
          <a:solidFill>
            <a:srgbClr val="A41D1F"/>
          </a:solidFill>
          <a:ln w="12700">
            <a:solidFill>
              <a:srgbClr val="A41D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46304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Terlalu Banyak Teks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60120" y="1837944"/>
            <a:ext cx="3063240" cy="2971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Slide berisi paragraf panjang sehingga audiens sulit menangkap inti proyek.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4434840" y="1325880"/>
            <a:ext cx="3383280" cy="3611880"/>
          </a:xfrm>
          <a:prstGeom prst="roundRect">
            <a:avLst>
              <a:gd name="adj" fmla="val 1892"/>
            </a:avLst>
          </a:prstGeom>
          <a:solidFill>
            <a:srgbClr val="FFF6D8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325880"/>
            <a:ext cx="73152" cy="361188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46304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Demo Tidak Siap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4617720" y="1837944"/>
            <a:ext cx="3063240" cy="2971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Aplikasi belum dibuka, data demo belum ada, atau koneksi/akun belum dipastikan.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8092440" y="1325880"/>
            <a:ext cx="3383280" cy="3611880"/>
          </a:xfrm>
          <a:prstGeom prst="roundRect">
            <a:avLst>
              <a:gd name="adj" fmla="val 1892"/>
            </a:avLst>
          </a:prstGeom>
          <a:solidFill>
            <a:srgbClr val="EAF1FA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1325880"/>
            <a:ext cx="73152" cy="3611880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146304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Bukti Kurang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8275320" y="1837944"/>
            <a:ext cx="3063240" cy="2971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README, test, deployment, atau kontribusi anggota tidak dapat diverifikasi.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4466E"/>
                </a:solidFill>
              </a:rPr>
              <a:t>Checklist Pengumpulan Akhir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Pastikan semua link dan berkas bisa dibuka setelah presentasi selesai.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173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466E"/>
                </a:solidFill>
              </a:rPr>
              <a:t>Link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1764792"/>
            <a:ext cx="3108960" cy="0"/>
          </a:xfrm>
          <a:prstGeom prst="line">
            <a:avLst/>
          </a:prstGeom>
          <a:noFill/>
          <a:ln w="25400">
            <a:solidFill>
              <a:srgbClr val="0F7A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20240"/>
            <a:ext cx="475488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GitHub repository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Aplikasi live atau video demo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Dokumen laporan final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0" y="14173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466E"/>
                </a:solidFill>
              </a:rPr>
              <a:t>Dokumentasi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0" y="1764792"/>
            <a:ext cx="3108960" cy="0"/>
          </a:xfrm>
          <a:prstGeom prst="line">
            <a:avLst/>
          </a:prstGeom>
          <a:noFill/>
          <a:ln w="25400">
            <a:solidFill>
              <a:srgbClr val="FDBF0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920240"/>
            <a:ext cx="475488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README final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Daftar endpoint/API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Cara instalasi dan menjalankan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Screenshot pengujian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39776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466E"/>
                </a:solidFill>
              </a:rPr>
              <a:t>Refleksi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68680" y="4325112"/>
            <a:ext cx="3108960" cy="0"/>
          </a:xfrm>
          <a:prstGeom prst="line">
            <a:avLst/>
          </a:prstGeom>
          <a:noFill/>
          <a:ln w="25400">
            <a:solidFill>
              <a:srgbClr val="244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480560"/>
            <a:ext cx="100584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Kontribusi anggota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Kendala teknis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Rencana pengembangan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Keterkaitan dengan CPMK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4466E"/>
                </a:solidFill>
              </a:rPr>
              <a:t>Penutup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UAS adalah kesempatan menunjukkan bahwa proyek tidak hanya dibuat, tetapi dipahami dan siap dikembangkan.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3383280" cy="3154680"/>
          </a:xfrm>
          <a:prstGeom prst="roundRect">
            <a:avLst>
              <a:gd name="adj" fmla="val 2029"/>
            </a:avLst>
          </a:prstGeom>
          <a:solidFill>
            <a:srgbClr val="EAF1FA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417320"/>
            <a:ext cx="73152" cy="3154680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544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Tunjukkan Produk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60120" y="1929384"/>
            <a:ext cx="3063240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Fitur utama berjalan dengan alur pengguna yang jelas dan relevan.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4434840" y="1417320"/>
            <a:ext cx="3383280" cy="3154680"/>
          </a:xfrm>
          <a:prstGeom prst="roundRect">
            <a:avLst>
              <a:gd name="adj" fmla="val 2029"/>
            </a:avLst>
          </a:prstGeom>
          <a:solidFill>
            <a:srgbClr val="FFF6D8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417320"/>
            <a:ext cx="73152" cy="315468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5544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Tunjukkan Proses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4617720" y="1929384"/>
            <a:ext cx="3063240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Jelaskan keputusan teknis, kendala, dan pembagian kerja tim.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8092440" y="1417320"/>
            <a:ext cx="3383280" cy="3154680"/>
          </a:xfrm>
          <a:prstGeom prst="roundRect">
            <a:avLst>
              <a:gd name="adj" fmla="val 2029"/>
            </a:avLst>
          </a:prstGeom>
          <a:solidFill>
            <a:srgbClr val="EDF8F2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1417320"/>
            <a:ext cx="73152" cy="315468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15544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Tunjukkan Bukti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8275320" y="1929384"/>
            <a:ext cx="3063240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Repo, README, testing, deployment, dan laporan final lengkap.</a:t>
            </a:r>
            <a:endParaRPr lang="en-US" sz="1060" dirty="0"/>
          </a:p>
        </p:txBody>
      </p:sp>
      <p:sp>
        <p:nvSpPr>
          <p:cNvPr id="17" name="Text 15"/>
          <p:cNvSpPr/>
          <p:nvPr/>
        </p:nvSpPr>
        <p:spPr>
          <a:xfrm>
            <a:off x="914400" y="51663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466E"/>
                </a:solidFill>
              </a:rPr>
              <a:t>Selamat mempresentasikan proyek akhir TI-501.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Universitas Muhammadiyah Yogyakarta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UAS Presentasi, Demo, Evaluasi, dan Refleksi Proyek Akhir</dc:title>
  <dc:subject>TI-501 Pertemuan 16</dc:subject>
  <dc:creator>Program Studi Teknologi Informasi UMY</dc:creator>
  <cp:lastModifiedBy>Program Studi Teknologi Informasi UMY</cp:lastModifiedBy>
  <cp:revision>1</cp:revision>
  <dcterms:created xsi:type="dcterms:W3CDTF">2026-07-21T14:10:33Z</dcterms:created>
  <dcterms:modified xsi:type="dcterms:W3CDTF">2026-07-21T14:10:33Z</dcterms:modified>
</cp:coreProperties>
</file>