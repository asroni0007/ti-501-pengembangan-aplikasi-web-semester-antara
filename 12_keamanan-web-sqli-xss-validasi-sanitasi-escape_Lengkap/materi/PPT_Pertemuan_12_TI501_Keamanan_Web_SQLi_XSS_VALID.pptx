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72293721f243e8" /><Relationship Type="http://schemas.openxmlformats.org/officeDocument/2006/relationships/extended-properties" Target="/docProps/app.xml" Id="R5cb783e834884ae1" /><Relationship Type="http://schemas.openxmlformats.org/officeDocument/2006/relationships/officeDocument" Target="/ppt/presentation.xml" Id="R19391a573d54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aecb756bf45e5"/>
  </p:sldMasterIdLst>
  <p:notesMasterIdLst>
    <p:notesMasterId xmlns:r="http://schemas.openxmlformats.org/officeDocument/2006/relationships" r:id="R90156bd2972a4c22"/>
  </p:notesMasterIdLst>
  <p:sldIdLst>
    <p:sldId xmlns:r="http://schemas.openxmlformats.org/officeDocument/2006/relationships" id="256" r:id="Ree80ba33eed14052"/>
    <p:sldId xmlns:r="http://schemas.openxmlformats.org/officeDocument/2006/relationships" id="257" r:id="Rbef8b2a42f4c4fae"/>
    <p:sldId xmlns:r="http://schemas.openxmlformats.org/officeDocument/2006/relationships" id="258" r:id="R996c9075bd6f47ad"/>
    <p:sldId xmlns:r="http://schemas.openxmlformats.org/officeDocument/2006/relationships" id="259" r:id="R50266b274cb24dcb"/>
    <p:sldId xmlns:r="http://schemas.openxmlformats.org/officeDocument/2006/relationships" id="260" r:id="R59121cbfd18e4bca"/>
    <p:sldId xmlns:r="http://schemas.openxmlformats.org/officeDocument/2006/relationships" id="261" r:id="R1c3a97ace70d4280"/>
    <p:sldId xmlns:r="http://schemas.openxmlformats.org/officeDocument/2006/relationships" id="262" r:id="Rd68e93ea3d044e75"/>
    <p:sldId xmlns:r="http://schemas.openxmlformats.org/officeDocument/2006/relationships" id="263" r:id="Rfe841c04cfd04102"/>
    <p:sldId xmlns:r="http://schemas.openxmlformats.org/officeDocument/2006/relationships" id="264" r:id="R3145d02a877c4046"/>
    <p:sldId xmlns:r="http://schemas.openxmlformats.org/officeDocument/2006/relationships" id="265" r:id="Re0d02de612c3467a"/>
    <p:sldId xmlns:r="http://schemas.openxmlformats.org/officeDocument/2006/relationships" id="266" r:id="Rb1c82d5e6d2c4234"/>
    <p:sldId xmlns:r="http://schemas.openxmlformats.org/officeDocument/2006/relationships" id="267" r:id="Rb0cbbc5107ba4e87"/>
    <p:sldId xmlns:r="http://schemas.openxmlformats.org/officeDocument/2006/relationships" id="268" r:id="Rb50e33417b414249"/>
    <p:sldId xmlns:r="http://schemas.openxmlformats.org/officeDocument/2006/relationships" id="269" r:id="R09509b75574c42c6"/>
    <p:sldId xmlns:r="http://schemas.openxmlformats.org/officeDocument/2006/relationships" id="270" r:id="Ra2bb21c3f3ce4a21"/>
    <p:sldId xmlns:r="http://schemas.openxmlformats.org/officeDocument/2006/relationships" id="271" r:id="Rba03026ab8c34fec"/>
    <p:sldId xmlns:r="http://schemas.openxmlformats.org/officeDocument/2006/relationships" id="272" r:id="R6b80be9ffeea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2b4f6a7d1487c" /><Relationship Type="http://schemas.openxmlformats.org/officeDocument/2006/relationships/slideMaster" Target="/ppt/slideMasters/slideMaster1.xml" Id="Rf2aaecb756bf45e5" /><Relationship Type="http://schemas.openxmlformats.org/officeDocument/2006/relationships/notesMaster" Target="/ppt/notesMasters/notesMaster1.xml" Id="R90156bd2972a4c22" /><Relationship Type="http://schemas.openxmlformats.org/officeDocument/2006/relationships/presProps" Target="/ppt/presProps.xml" Id="R054904fa5d454696" /><Relationship Type="http://schemas.openxmlformats.org/officeDocument/2006/relationships/tableStyles" Target="/ppt/tableStyles.xml" Id="R9a8665c6ca3b43cd" /><Relationship Type="http://schemas.openxmlformats.org/officeDocument/2006/relationships/slide" Target="/ppt/slides/slide1.xml" Id="Ree80ba33eed14052" /><Relationship Type="http://schemas.openxmlformats.org/officeDocument/2006/relationships/slide" Target="/ppt/slides/slide2.xml" Id="Rbef8b2a42f4c4fae" /><Relationship Type="http://schemas.openxmlformats.org/officeDocument/2006/relationships/slide" Target="/ppt/slides/slide3.xml" Id="R996c9075bd6f47ad" /><Relationship Type="http://schemas.openxmlformats.org/officeDocument/2006/relationships/slide" Target="/ppt/slides/slide4.xml" Id="R50266b274cb24dcb" /><Relationship Type="http://schemas.openxmlformats.org/officeDocument/2006/relationships/slide" Target="/ppt/slides/slide5.xml" Id="R59121cbfd18e4bca" /><Relationship Type="http://schemas.openxmlformats.org/officeDocument/2006/relationships/slide" Target="/ppt/slides/slide6.xml" Id="R1c3a97ace70d4280" /><Relationship Type="http://schemas.openxmlformats.org/officeDocument/2006/relationships/slide" Target="/ppt/slides/slide7.xml" Id="Rd68e93ea3d044e75" /><Relationship Type="http://schemas.openxmlformats.org/officeDocument/2006/relationships/slide" Target="/ppt/slides/slide8.xml" Id="Rfe841c04cfd04102" /><Relationship Type="http://schemas.openxmlformats.org/officeDocument/2006/relationships/slide" Target="/ppt/slides/slide9.xml" Id="R3145d02a877c4046" /><Relationship Type="http://schemas.openxmlformats.org/officeDocument/2006/relationships/slide" Target="/ppt/slides/slide10.xml" Id="Re0d02de612c3467a" /><Relationship Type="http://schemas.openxmlformats.org/officeDocument/2006/relationships/slide" Target="/ppt/slides/slide11.xml" Id="Rb1c82d5e6d2c4234" /><Relationship Type="http://schemas.openxmlformats.org/officeDocument/2006/relationships/slide" Target="/ppt/slides/slide12.xml" Id="Rb0cbbc5107ba4e87" /><Relationship Type="http://schemas.openxmlformats.org/officeDocument/2006/relationships/slide" Target="/ppt/slides/slide13.xml" Id="Rb50e33417b414249" /><Relationship Type="http://schemas.openxmlformats.org/officeDocument/2006/relationships/slide" Target="/ppt/slides/slide14.xml" Id="R09509b75574c42c6" /><Relationship Type="http://schemas.openxmlformats.org/officeDocument/2006/relationships/slide" Target="/ppt/slides/slide15.xml" Id="Ra2bb21c3f3ce4a21" /><Relationship Type="http://schemas.openxmlformats.org/officeDocument/2006/relationships/slide" Target="/ppt/slides/slide16.xml" Id="Rba03026ab8c34fec" /><Relationship Type="http://schemas.openxmlformats.org/officeDocument/2006/relationships/slide" Target="/ppt/slides/slide17.xml" Id="R6b80be9ffeea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3742e2c6f4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cc49e57b704063" /><Relationship Type="http://schemas.openxmlformats.org/officeDocument/2006/relationships/notesMaster" Target="/ppt/notesMasters/notesMaster1.xml" Id="Rcf825ba50c8a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c321ac0ff04d08" /><Relationship Type="http://schemas.openxmlformats.org/officeDocument/2006/relationships/notesMaster" Target="/ppt/notesMasters/notesMaster1.xml" Id="R9f54390a4ead43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ce6851fbac4a0b" /><Relationship Type="http://schemas.openxmlformats.org/officeDocument/2006/relationships/notesMaster" Target="/ppt/notesMasters/notesMaster1.xml" Id="R5f515500ea8642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0a81775fb74692" /><Relationship Type="http://schemas.openxmlformats.org/officeDocument/2006/relationships/notesMaster" Target="/ppt/notesMasters/notesMaster1.xml" Id="R3a5326b89730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445f91606442f3" /><Relationship Type="http://schemas.openxmlformats.org/officeDocument/2006/relationships/notesMaster" Target="/ppt/notesMasters/notesMaster1.xml" Id="R07697052f4a14c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a5567c6f244d51" /><Relationship Type="http://schemas.openxmlformats.org/officeDocument/2006/relationships/notesMaster" Target="/ppt/notesMasters/notesMaster1.xml" Id="Rf968d7aab19b42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71fcd3cfb4182" /><Relationship Type="http://schemas.openxmlformats.org/officeDocument/2006/relationships/notesMaster" Target="/ppt/notesMasters/notesMaster1.xml" Id="Rf02d81a4146349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46137344c44f8" /><Relationship Type="http://schemas.openxmlformats.org/officeDocument/2006/relationships/notesMaster" Target="/ppt/notesMasters/notesMaster1.xml" Id="R89098dabded444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d16e851a914a60" /><Relationship Type="http://schemas.openxmlformats.org/officeDocument/2006/relationships/notesMaster" Target="/ppt/notesMasters/notesMaster1.xml" Id="R0e7bb452009f47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6d7f0e40e84378" /><Relationship Type="http://schemas.openxmlformats.org/officeDocument/2006/relationships/notesMaster" Target="/ppt/notesMasters/notesMaster1.xml" Id="R22b5367d8bfe4e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1d81248f724f15" /><Relationship Type="http://schemas.openxmlformats.org/officeDocument/2006/relationships/notesMaster" Target="/ppt/notesMasters/notesMaster1.xml" Id="Rc2f41c6a1c9643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a093d0c847446a" /><Relationship Type="http://schemas.openxmlformats.org/officeDocument/2006/relationships/notesMaster" Target="/ppt/notesMasters/notesMaster1.xml" Id="Rc24cf6b711524a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2a286ed91c4364" /><Relationship Type="http://schemas.openxmlformats.org/officeDocument/2006/relationships/notesMaster" Target="/ppt/notesMasters/notesMaster1.xml" Id="Rb9250e27fdc947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7ec93ced5f4d7b" /><Relationship Type="http://schemas.openxmlformats.org/officeDocument/2006/relationships/notesMaster" Target="/ppt/notesMasters/notesMaster1.xml" Id="R8e6b05f5536c47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354f18dd4445bb" /><Relationship Type="http://schemas.openxmlformats.org/officeDocument/2006/relationships/notesMaster" Target="/ppt/notesMasters/notesMaster1.xml" Id="R5642d2249fdb40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e11f4a93f24735" /><Relationship Type="http://schemas.openxmlformats.org/officeDocument/2006/relationships/notesMaster" Target="/ppt/notesMasters/notesMaster1.xml" Id="Rf5f72f9970c646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7331e914974e65" /><Relationship Type="http://schemas.openxmlformats.org/officeDocument/2006/relationships/notesMaster" Target="/ppt/notesMasters/notesMaster1.xml" Id="R2811c204e8ed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https://cheatsheetseries.owasp.org/cheatsheets/Security_Terminology_Cheat_Sheet.html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https://cheatsheetseries.owasp.org/cheatsheets/Input_Validation_Cheat_Sheet.html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https://cheatsheetseries.owasp.org/cheatsheets/SQL_Injection_Prevention_Cheat_Sheet.html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https://cheatsheetseries.owasp.org/cheatsheets/Query_Parameterization_Cheat_Sheet.html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https://owasp.org/www-community/Types_of_Cross-Site_Scripting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https://cheatsheetseries.owasp.org/cheatsheets/DOM_based_XSS_Prevention_Cheat_Sheet.html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https://cheatsheetseries.owasp.org/cheatsheets/Cross_Site_Scripting_Prevention_Cheat_Sheet.html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internal TI-501 dan source code praktikum pertemuan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https://cheatsheetseries.owasp.org/cheatsheets/SQL_Injection_Prevention_Cheat_Sheet.html</a:t>
            </a:r>
          </a:p>
          <a:p xmlns:a="http://schemas.openxmlformats.org/drawingml/2006/main">
            <a:r>
              <a:t>https://cheatsheetseries.owasp.org/cheatsheets/Cross_Site_Scripting_Prevention_Cheat_Sheet.html</a:t>
            </a:r>
          </a:p>
          <a:p xmlns:a="http://schemas.openxmlformats.org/drawingml/2006/main">
            <a:r>
              <a:t>https://cheatsheetseries.owasp.org/cheatsheets/Input_Validation_Cheat_Sheet.html</a:t>
            </a:r>
          </a:p>
          <a:p xmlns:a="http://schemas.openxmlformats.org/drawingml/2006/main">
            <a:r>
              <a:t>https://cheatsheetseries.owasp.org/cheatsheets/DOM_based_XSS_Prevention_Cheat_Sheet.html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eb6ecb7874b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41e468ae7a4a7f" /><Relationship Type="http://schemas.openxmlformats.org/officeDocument/2006/relationships/slideLayout" Target="/ppt/slideLayouts/slideLayout1.xml" Id="R04809d34b7b6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09d34b7b6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7828cb6314cb7" /><Relationship Type="http://schemas.openxmlformats.org/officeDocument/2006/relationships/notesSlide" Target="/ppt/notesSlides/notesSlide1.xml" Id="R6648a8b0d9364e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29bb2890f4c65" /><Relationship Type="http://schemas.openxmlformats.org/officeDocument/2006/relationships/notesSlide" Target="/ppt/notesSlides/notesSlide2.xml" Id="R5a95d73e68354e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6e9d995c84083" /><Relationship Type="http://schemas.openxmlformats.org/officeDocument/2006/relationships/notesSlide" Target="/ppt/notesSlides/notesSlide3.xml" Id="Rbc095aa2143a46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4098be2eb4f2b" /><Relationship Type="http://schemas.openxmlformats.org/officeDocument/2006/relationships/notesSlide" Target="/ppt/notesSlides/notesSlide4.xml" Id="R4c3882b64b5c4d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479d913924da5" /><Relationship Type="http://schemas.openxmlformats.org/officeDocument/2006/relationships/notesSlide" Target="/ppt/notesSlides/notesSlide5.xml" Id="R8a760a6dd3d6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3cf3ff2004be2" /><Relationship Type="http://schemas.openxmlformats.org/officeDocument/2006/relationships/notesSlide" Target="/ppt/notesSlides/notesSlide6.xml" Id="Rc6651f19016043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b98a771fa43c5" /><Relationship Type="http://schemas.openxmlformats.org/officeDocument/2006/relationships/notesSlide" Target="/ppt/notesSlides/notesSlide7.xml" Id="R9450e1b528ae4c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e87681c4d4411" /><Relationship Type="http://schemas.openxmlformats.org/officeDocument/2006/relationships/notesSlide" Target="/ppt/notesSlides/notesSlide8.xml" Id="Rc742c2d0e6924e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06731fd024ba9" /><Relationship Type="http://schemas.openxmlformats.org/officeDocument/2006/relationships/notesSlide" Target="/ppt/notesSlides/notesSlide9.xml" Id="R9cf1f41d15a94d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e45f7841d4cec" /><Relationship Type="http://schemas.openxmlformats.org/officeDocument/2006/relationships/notesSlide" Target="/ppt/notesSlides/notesSlide10.xml" Id="Ra0337b72e3a2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8a9dacb4f424b" /><Relationship Type="http://schemas.openxmlformats.org/officeDocument/2006/relationships/notesSlide" Target="/ppt/notesSlides/notesSlide11.xml" Id="R98ea940263834d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4d9e585724573" /><Relationship Type="http://schemas.openxmlformats.org/officeDocument/2006/relationships/notesSlide" Target="/ppt/notesSlides/notesSlide12.xml" Id="Red1daacd83ad4c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0f590a0f24422" /><Relationship Type="http://schemas.openxmlformats.org/officeDocument/2006/relationships/notesSlide" Target="/ppt/notesSlides/notesSlide13.xml" Id="R6c777c4695ed40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2bf7ac2344f46" /><Relationship Type="http://schemas.openxmlformats.org/officeDocument/2006/relationships/notesSlide" Target="/ppt/notesSlides/notesSlide14.xml" Id="Rb3c8a5b8683a44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5343378e24b94" /><Relationship Type="http://schemas.openxmlformats.org/officeDocument/2006/relationships/notesSlide" Target="/ppt/notesSlides/notesSlide15.xml" Id="R2ac57996bc8f4e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25deb81414deb" /><Relationship Type="http://schemas.openxmlformats.org/officeDocument/2006/relationships/notesSlide" Target="/ppt/notesSlides/notesSlide16.xml" Id="R0017f3e8289e40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948eef5df486c" /><Relationship Type="http://schemas.openxmlformats.org/officeDocument/2006/relationships/notesSlide" Target="/ppt/notesSlides/notesSlide17.xml" Id="R42bdbeac75c3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0DB3D-84BE-4B6F-B70F-3C5CD794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CA74"/>
                </a:solidFill>
              </a:defRPr>
            </a:pPr>
            <a:r>
              <a:rPr sz="1275" b="1">
                <a:solidFill>
                  <a:srgbClr val="FFCA74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E02C3-DB41-430B-AE6B-96A287BB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Keamanan Dasar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Aplikasi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9EAD-A0FC-4EBF-8ED1-82591521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8F7"/>
                </a:solidFill>
              </a:defRPr>
            </a:pPr>
            <a:r>
              <a:rPr sz="1875" b="0">
                <a:solidFill>
                  <a:srgbClr val="D9E8F7"/>
                </a:solidFill>
              </a:rPr>
              <a:t>SQL Injection · XSS · Validasi server-side</a:t>
            </a:r>
          </a:p>
          <a:p xmlns:a="http://schemas.openxmlformats.org/drawingml/2006/main">
            <a:pPr algn="l">
              <a:defRPr sz="1875" b="0">
                <a:solidFill>
                  <a:srgbClr val="D9E8F7"/>
                </a:solidFill>
              </a:defRPr>
            </a:pPr>
            <a:r>
              <a:rPr sz="1875" b="0">
                <a:solidFill>
                  <a:srgbClr val="D9E8F7"/>
                </a:solidFill>
              </a:rPr>
              <a:t>Sanitasi · Escape 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399E1-5242-4F2D-A470-8987DBFD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D39C6-2AFF-4FAA-AA7F-CC11D5D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9"/>
                </a:solidFill>
              </a:defRPr>
            </a:pPr>
            <a:r>
              <a:rPr sz="2250" b="1">
                <a:solidFill>
                  <a:srgbClr val="173B69"/>
                </a:solidFill>
              </a:rPr>
              <a:t>AMANAH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C6CDF-D30D-48F0-811B-F859148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Menjaga data, integritas layanan,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dan kepercayaan pengguna UMKM.</a:t>
            </a:r>
          </a:p>
        </p:txBody>
      </p:sp>
    </p:spTree>
    <p:extLst>
      <p:ext uri="{BB962C8B-B14F-4D97-AF65-F5344CB8AC3E}">
        <p14:creationId xmlns:p14="http://schemas.microsoft.com/office/powerpoint/2010/main" val="387557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D9DA2-9BA9-4215-9CC7-1BAB806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7667E-3576-4D6A-BE2C-9AE564C5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Keamanan dimulai dari cara kita memperlakukan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1313B-464B-4F4D-8CB6-3886C98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5FC3-0AE5-497F-AF94-A0341CF6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BF42F-864A-4D55-BEA7-C5A53EA8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E7523-A1D6-4873-B7E3-B5FF28C4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6"/>
                </a:solidFill>
              </a:defRPr>
            </a:pPr>
            <a:r>
              <a:rPr sz="2025" b="1">
                <a:solidFill>
                  <a:srgbClr val="182536"/>
                </a:solidFill>
              </a:rPr>
              <a:t>Input dari browser, API, database, bot, dan output LLM tidak otomatis aman.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44E19-A57A-4189-8D69-7946A1C6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ED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BDE07-3F14-4A3F-852A-E5B7019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68B1F"/>
                </a:solidFill>
              </a:defRPr>
            </a:pPr>
            <a:r>
              <a:rPr sz="2550" b="1">
                <a:solidFill>
                  <a:srgbClr val="E68B1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D5EBD-7B74-423B-8137-9C231D75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69"/>
                </a:solidFill>
              </a:defRPr>
            </a:pPr>
            <a:r>
              <a:rPr sz="1950" b="1">
                <a:solidFill>
                  <a:srgbClr val="173B69"/>
                </a:solidFill>
              </a:rPr>
              <a:t>Kenali sumber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33855-5135-4659-A06C-09939CA8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87B"/>
                </a:solidFill>
              </a:defRPr>
            </a:pPr>
            <a:r>
              <a:rPr sz="1500" b="0">
                <a:solidFill>
                  <a:srgbClr val="58687B"/>
                </a:solidFill>
              </a:rPr>
              <a:t>Tandai semua data yang melewati trust boundary.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5CBE4-9718-4B00-B518-794FF48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C9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7D920-0459-4D46-A2D2-8DFCE77E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68B1F"/>
                </a:solidFill>
              </a:defRPr>
            </a:pPr>
            <a:r>
              <a:rPr sz="2550" b="1">
                <a:solidFill>
                  <a:srgbClr val="E68B1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EB248-F387-4F6D-8C34-5ADEBF7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69"/>
                </a:solidFill>
              </a:defRPr>
            </a:pPr>
            <a:r>
              <a:rPr sz="1950" b="1">
                <a:solidFill>
                  <a:srgbClr val="173B69"/>
                </a:solidFill>
              </a:rPr>
              <a:t>Pilih kontrol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6B5E1-B464-4C81-8104-C874BB14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87B"/>
                </a:solidFill>
              </a:defRPr>
            </a:pPr>
            <a:r>
              <a:rPr sz="1500" b="0">
                <a:solidFill>
                  <a:srgbClr val="58687B"/>
                </a:solidFill>
              </a:rPr>
              <a:t>Validasi, parameterization, escape, atau sanitasi.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54690-C016-494A-AC40-ECBFAD6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B9D9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5F537-5484-4445-8959-F3C331E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704A"/>
                </a:solidFill>
              </a:defRPr>
            </a:pPr>
            <a:r>
              <a:rPr sz="2550" b="1">
                <a:solidFill>
                  <a:srgbClr val="24704A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427E3-A1FE-4728-ACBD-A354AFB6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69"/>
                </a:solidFill>
              </a:defRPr>
            </a:pPr>
            <a:r>
              <a:rPr sz="1950" b="1">
                <a:solidFill>
                  <a:srgbClr val="173B69"/>
                </a:solidFill>
              </a:rPr>
              <a:t>Buktikan aman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B9436-7488-46C0-9AB4-A290EA7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87B"/>
                </a:solidFill>
              </a:defRPr>
            </a:pPr>
            <a:r>
              <a:rPr sz="1500" b="0">
                <a:solidFill>
                  <a:srgbClr val="58687B"/>
                </a:solidFill>
              </a:rPr>
              <a:t>Jalankan pengujian negatif dan review kode.</a:t>
            </a:r>
          </a:p>
        </p:txBody>
      </p:sp>
    </p:spTree>
    <p:extLst>
      <p:ext uri="{BB962C8B-B14F-4D97-AF65-F5344CB8AC3E}">
        <p14:creationId xmlns:p14="http://schemas.microsoft.com/office/powerpoint/2010/main" val="1464873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76FC3-D4C0-49E7-B05B-121F38F4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06D35-06E2-4B2C-BEF5-95D083FC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Target pembelajaran: kontrol tepat untuk risiko yang tepat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7DEFF-A20E-40B6-980B-AFD1510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C9BD5-9202-4CCD-862D-D514CBB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33B9F-F01C-4AB8-830B-216F9E6D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7C18A-ECBE-4674-8696-68A990B2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BBA49-669C-41D7-87B7-14E981F6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1036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Mengidentifikasi trust boundary dan input tidak tepercaya.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35179-4A4A-4B13-8105-1212F931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FBF4B-0999-4A2C-9378-2B16472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1036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Mencegah SQL Injection dengan parameterized query.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97376-5ACD-4325-88BD-1AE6B6E7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D36D-D329-45BF-8D4F-12D3F0FB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1036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Mencegah reflected, stored, dan DOM XSS dengan safe output handling.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D1778-184D-4AAE-BEA5-BD766B8C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186EE-40DB-4AC3-AC18-3CF78E4F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036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Menerapkan validasi server-side, sanitasi, dan escape sesuai tujuan.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0633C-8CB7-42FE-A040-D0B4BBF3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61792-3AA8-45AC-AFBB-25064F5D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1036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Membuktikan perbaikan melalui pengujian negatif dan refleksi Amanah.</a:t>
            </a:r>
          </a:p>
        </p:txBody>
      </p:sp>
    </p:spTree>
    <p:extLst>
      <p:ext uri="{BB962C8B-B14F-4D97-AF65-F5344CB8AC3E}">
        <p14:creationId xmlns:p14="http://schemas.microsoft.com/office/powerpoint/2010/main" val="1346285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FD5C3-E28A-4D25-8519-799E5E7C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0D79A-04DA-4667-92A6-B45E11B4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Alur aman memisahkan validasi, proses, dan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A81CA-6736-4F71-837F-F4A0788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839AE-97BF-4979-B7BB-A4BFEEE2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AFE83-7513-4E6A-B616-F9FA56D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49695-CBB6-44BF-AC4F-FA58A5E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05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0D7F0-026C-4FBC-8F08-C5DD6BD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37704-911D-4CFC-A0CD-73C4925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051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Tidak tepercaya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6F02D-FE40-4A7C-934D-4EDACDCD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90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8B1F"/>
                </a:solidFill>
              </a:defRPr>
            </a:pPr>
            <a:r>
              <a:rPr sz="225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93C65-9420-4777-AFA1-F2C867F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905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622CA-F19B-4F4C-A87E-E1C603CC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VALIDASI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1CCC7-FDC4-4092-9995-F9CE3A41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Kontrak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DA8DA-1F93-49EB-A583-871FA8AC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90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8B1F"/>
                </a:solidFill>
              </a:defRPr>
            </a:pPr>
            <a:r>
              <a:rPr sz="225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C9D86-74DB-4889-93F1-D321B6C4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28875"/>
            <a:ext cx="1905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D974F-7370-4B5F-8828-8F7F43B7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670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PROSES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B2160-F6EA-4131-AE08-37CA747D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051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Tujuan bisnis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5B038-A63B-4A5A-B4E8-A9D857C7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90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8B1F"/>
                </a:solidFill>
              </a:defRPr>
            </a:pPr>
            <a:r>
              <a:rPr sz="225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7ECB3-C38B-4D9A-9F82-A6280144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1905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9D16D-D49D-46FA-9F51-98360277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670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SINK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DD1EC-CA7D-4627-B74B-445E5AA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051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DB atau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EE049F-55D3-47B4-A0DE-552911D4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90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8B1F"/>
                </a:solidFill>
              </a:defRPr>
            </a:pPr>
            <a:r>
              <a:rPr sz="225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A7619-F3C3-46FB-8D30-00E8BBDE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28875"/>
            <a:ext cx="1905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99C4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1E904-3C43-4780-820C-BA1CB789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6670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704A"/>
                </a:solidFill>
              </a:defRPr>
            </a:pPr>
            <a:r>
              <a:rPr sz="1575" b="1">
                <a:solidFill>
                  <a:srgbClr val="24704A"/>
                </a:solidFill>
              </a:rPr>
              <a:t>BUKTI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9A0DC-A297-4060-AD12-6612AA2E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1051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Uji negatif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62D69-54A8-4A83-B4E6-512879B2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8B1F"/>
                </a:solidFill>
              </a:defRPr>
            </a:pPr>
            <a:r>
              <a:rPr sz="1275" b="1">
                <a:solidFill>
                  <a:srgbClr val="E68B1F"/>
                </a:solidFill>
              </a:rPr>
              <a:t>Trust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3CDD19-97E6-4257-836E-D5F43DDF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536"/>
                </a:solidFill>
              </a:defRPr>
            </a:pPr>
            <a:r>
              <a:rPr sz="1950" b="1">
                <a:solidFill>
                  <a:srgbClr val="182536"/>
                </a:solidFill>
              </a:rPr>
              <a:t>Kontrol dipilih berdasarkan sink: database, HTML, atribut, URL, atau JavaScript.</a:t>
            </a:r>
          </a:p>
        </p:txBody>
      </p:sp>
    </p:spTree>
    <p:extLst>
      <p:ext uri="{BB962C8B-B14F-4D97-AF65-F5344CB8AC3E}">
        <p14:creationId xmlns:p14="http://schemas.microsoft.com/office/powerpoint/2010/main" val="1338475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3BCB1-1BCF-4626-8776-CD06444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2ABC9-4514-4D7B-A93F-7D4600D8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Empat istilah yang tidak boleh dipertukarkan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CA6F8-9393-4DB4-A0F3-323290A2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6393D-4458-4152-B950-F0CCEF8A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9105B-1F13-4F60-91F7-287C837B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AA54A-8459-47DA-AC82-33A6DE5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744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4DD94-44D2-4C83-BEE1-B750200B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69"/>
                </a:solidFill>
              </a:defRPr>
            </a:pPr>
            <a:r>
              <a:rPr sz="1500" b="1">
                <a:solidFill>
                  <a:srgbClr val="173B69"/>
                </a:solidFill>
              </a:rPr>
              <a:t>VALIDASI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88C49-8729-435E-8F45-B97C07E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536"/>
                </a:solidFill>
              </a:defRPr>
            </a:pPr>
            <a:r>
              <a:rPr sz="1575" b="1">
                <a:solidFill>
                  <a:srgbClr val="182536"/>
                </a:solidFill>
              </a:rPr>
              <a:t>Apakah data sesuai kontrak?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53CE8-8492-4FF8-9CFC-5E80CBBE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7B"/>
                </a:solidFill>
              </a:defRPr>
            </a:pPr>
            <a:r>
              <a:rPr sz="1425" b="0">
                <a:solidFill>
                  <a:srgbClr val="58687B"/>
                </a:solidFill>
              </a:rPr>
              <a:t>Tipe · panjang · format · rentang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0EA4-1549-47AB-8E92-6FD8A58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0744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7DA35-5135-4F8F-8CD5-4689A4D0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69"/>
                </a:solidFill>
              </a:defRPr>
            </a:pPr>
            <a:r>
              <a:rPr sz="1500" b="1">
                <a:solidFill>
                  <a:srgbClr val="173B69"/>
                </a:solidFill>
              </a:rPr>
              <a:t>PARAMETERIZATION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04E27-1C8D-4CE4-983E-B962BD0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536"/>
                </a:solidFill>
              </a:defRPr>
            </a:pPr>
            <a:r>
              <a:rPr sz="1575" b="1">
                <a:solidFill>
                  <a:srgbClr val="182536"/>
                </a:solidFill>
              </a:rPr>
              <a:t>Apakah data terpisah dari SQL?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4F036-8521-4999-854C-EA92825B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7B"/>
                </a:solidFill>
              </a:defRPr>
            </a:pPr>
            <a:r>
              <a:rPr sz="1425" b="0">
                <a:solidFill>
                  <a:srgbClr val="58687B"/>
                </a:solidFill>
              </a:rPr>
              <a:t>Placeholder +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37F2D-A580-4303-B192-0EB662C3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10744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F372C-1E71-4A96-8D72-3192EA9F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69"/>
                </a:solidFill>
              </a:defRPr>
            </a:pPr>
            <a:r>
              <a:rPr sz="1500" b="1">
                <a:solidFill>
                  <a:srgbClr val="173B69"/>
                </a:solidFill>
              </a:rPr>
              <a:t>ESCAPE / ENCODING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5D768-338E-469D-B49A-3C7721CA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43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536"/>
                </a:solidFill>
              </a:defRPr>
            </a:pPr>
            <a:r>
              <a:rPr sz="1575" b="1">
                <a:solidFill>
                  <a:srgbClr val="182536"/>
                </a:solidFill>
              </a:rPr>
              <a:t>Apakah output diperlakukan sebagai teks?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0D872-D41B-461B-84C8-8399117F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433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7B"/>
                </a:solidFill>
              </a:defRPr>
            </a:pPr>
            <a:r>
              <a:rPr sz="1425" b="0">
                <a:solidFill>
                  <a:srgbClr val="58687B"/>
                </a:solidFill>
              </a:rPr>
              <a:t>Sesuai konteks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CDA4A-EFDB-49F5-9155-2BE7448E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44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52B8F-A18B-4FF8-AB48-5FB02E27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8B1F"/>
                </a:solidFill>
              </a:defRPr>
            </a:pPr>
            <a:r>
              <a:rPr sz="1500" b="1">
                <a:solidFill>
                  <a:srgbClr val="E68B1F"/>
                </a:solidFill>
              </a:rPr>
              <a:t>SANITASI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78FE3-9A0B-48A2-8EC1-7C409B0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1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536"/>
                </a:solidFill>
              </a:defRPr>
            </a:pPr>
            <a:r>
              <a:rPr sz="1575" b="1">
                <a:solidFill>
                  <a:srgbClr val="182536"/>
                </a:solidFill>
              </a:rPr>
              <a:t>Markup apa yang boleh bertahan?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9CC55-B991-43E2-A2A0-AFD9C045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7B"/>
                </a:solidFill>
              </a:defRPr>
            </a:pPr>
            <a:r>
              <a:rPr sz="1425" b="0">
                <a:solidFill>
                  <a:srgbClr val="58687B"/>
                </a:solidFill>
              </a:rPr>
              <a:t>Allowlist bila HTML diperlukan</a:t>
            </a:r>
          </a:p>
        </p:txBody>
      </p:sp>
    </p:spTree>
    <p:extLst>
      <p:ext uri="{BB962C8B-B14F-4D97-AF65-F5344CB8AC3E}">
        <p14:creationId xmlns:p14="http://schemas.microsoft.com/office/powerpoint/2010/main" val="409129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34311-59F0-488C-A7D3-3B0A2ACB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28A83-CA5F-47B8-873F-58ECE815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Validasi browser membantu UX; server tetap menjadi otoritas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FED23-51DB-41FF-9D29-28D26E43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32E79-4705-42DD-9C14-713036A7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A65B7-F6FF-49C3-9BF4-98C88A95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1ECDF-EDA4-4119-B400-9EDE00AC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572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C9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8732E-ED41-447D-B476-25E8E0C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8B1F"/>
                </a:solidFill>
              </a:defRPr>
            </a:pPr>
            <a:r>
              <a:rPr sz="1800" b="1">
                <a:solidFill>
                  <a:srgbClr val="E68B1F"/>
                </a:solidFill>
              </a:rPr>
              <a:t>CLIENT-SIDE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D877C-202D-427F-AB07-FE42197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E636A-2E7A-4C0A-80E0-AED0D38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Memberi umpan balik cepat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5F592-6797-467F-A3D4-5D42A1FA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5AB0E-9D8C-4EBD-B91D-7C25F471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Dapat dimatikan atau dilewati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F9CE1-2287-482D-B8B6-93E86B31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4E33A-E40C-4B1B-8ABF-58A4B132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Tidak cukup sebagai kontrol keamanan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37CF9-1694-4BD0-AA19-A2F4C67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572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A9CF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02188-48C9-444C-8A7F-0625085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04A"/>
                </a:solidFill>
              </a:defRPr>
            </a:pPr>
            <a:r>
              <a:rPr sz="1800" b="1">
                <a:solidFill>
                  <a:srgbClr val="24704A"/>
                </a:solidFill>
              </a:rPr>
              <a:t>SERVER-SIDE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D8CB0-2D38-4D9C-B5BA-7502BDF4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67FBE-CFD9-4107-8D41-BBB7914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Memvalidasi semua jalur masuk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FB2ED-09AD-474A-82FF-DFCD2687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96FC0-0E59-4B4B-8C47-9B4A8006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Menegakkan tipe, panjang, format, rentang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58C37-9356-4045-B301-1A6877D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D9B03-4F90-488B-BA4A-6E6DD1E5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Mengembalikan error 400/422 terstruktur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A868A-8ED3-4467-88F7-2DB1791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340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69"/>
                </a:solidFill>
              </a:defRPr>
            </a:pPr>
            <a:r>
              <a:rPr sz="2025" b="1">
                <a:solidFill>
                  <a:srgbClr val="173B69"/>
                </a:solidFill>
              </a:rPr>
              <a:t>Allowlist + aturan bisnis + respons konsisten</a:t>
            </a:r>
          </a:p>
        </p:txBody>
      </p:sp>
    </p:spTree>
    <p:extLst>
      <p:ext uri="{BB962C8B-B14F-4D97-AF65-F5344CB8AC3E}">
        <p14:creationId xmlns:p14="http://schemas.microsoft.com/office/powerpoint/2010/main" val="389266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B3AC0-CF11-4BD4-890E-55AC0C04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DDAB-8084-4C6B-9507-81E4AA2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SQL Injection terjadi ketika data ikut membentuk perintah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045DD-96B1-489B-A02E-400B0B78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1E97A-B230-4AA1-9151-EDAD48F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6EDAD-3704-42AA-B251-A12EBE71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09B72-5A32-40CF-B9F8-15D99146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76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1AA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4BDB9-560B-43BE-8C25-EA64E7FA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764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43B32"/>
                </a:solidFill>
              </a:defRPr>
            </a:pPr>
            <a:r>
              <a:rPr sz="1950" b="1">
                <a:solidFill>
                  <a:srgbClr val="A43B32"/>
                </a:solidFill>
              </a:rPr>
              <a:t>BERISIKO  →  '... WHERE nama = ' + inputPengguna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7413B-A034-4E77-BB41-0655C7D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69"/>
                </a:solidFill>
              </a:defRPr>
            </a:pPr>
            <a:r>
              <a:rPr sz="1875" b="1">
                <a:solidFill>
                  <a:srgbClr val="173B69"/>
                </a:solidFill>
              </a:rPr>
              <a:t>Konsekuensi potensial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1B6C3-B941-4806-94F0-11E809DA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88730-75EE-4274-A9AE-636674DD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718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Melewati filter atau autentikasi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50D19-0964-429A-8EA7-3CF2A168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1002D-39B0-4365-A549-A6E5F816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6242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Membaca atau mengubah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2DF8F-FE45-4987-A484-D709FAEA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FEE01-4AE1-4744-94E1-F25C1C51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529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Merusak integritas layanan dan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2EB69-9E64-4CAD-A2C4-5EA65BF8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48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69"/>
                </a:solidFill>
              </a:defRPr>
            </a:pPr>
            <a:r>
              <a:rPr sz="1875" b="1">
                <a:solidFill>
                  <a:srgbClr val="173B69"/>
                </a:solidFill>
              </a:rPr>
              <a:t>Akar masalah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4C1AB-3D3E-4026-9D7F-3D63963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8BB7D-7188-45D3-8A4C-45FEC73C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71875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Struktur query berubah oleh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CBF56-E011-445B-A340-AD1F6DAB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4EFBC-8A46-462C-A2E8-DC62A8A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62425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Data dan perintah tercampur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93A0D-DEC5-442A-BBCC-43F42CCB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19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EFD6D-38EB-4698-9953-EDF94246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52975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536"/>
                </a:solidFill>
              </a:defRPr>
            </a:pPr>
            <a:r>
              <a:rPr sz="1575" b="0">
                <a:solidFill>
                  <a:srgbClr val="182536"/>
                </a:solidFill>
              </a:rPr>
              <a:t>Validasi blacklist mudah terlewati</a:t>
            </a:r>
          </a:p>
        </p:txBody>
      </p:sp>
    </p:spTree>
    <p:extLst>
      <p:ext uri="{BB962C8B-B14F-4D97-AF65-F5344CB8AC3E}">
        <p14:creationId xmlns:p14="http://schemas.microsoft.com/office/powerpoint/2010/main" val="2007219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C4282-7FA7-43C9-8071-5261D77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67C38-1AB8-48BF-B9D7-1E6BADE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Parameterized query menjaga struktur SQL tetap utuh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EB98-BAFD-4131-95F7-CD2D941D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E457F-C097-411C-8FF1-EE6F503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D0519-D4AB-42CA-8B77-1F869164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076C7-E30C-450C-9CDD-C72E6EFB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9CC8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C0E64-D2CA-4C28-9481-471230FD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704A"/>
                </a:solidFill>
              </a:defRPr>
            </a:pPr>
            <a:r>
              <a:rPr sz="2025" b="1">
                <a:solidFill>
                  <a:srgbClr val="24704A"/>
                </a:solidFill>
              </a:rPr>
              <a:t>AMAN  →  pool.execute('... WHERE nama LIKE ?', [nilai])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027E9-E53C-40BE-9AFD-07CF7525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B18C4-DB4E-433A-9EB5-7FE8893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69"/>
                </a:solidFill>
              </a:defRPr>
            </a:pPr>
            <a:r>
              <a:rPr sz="1725" b="1">
                <a:solidFill>
                  <a:srgbClr val="173B69"/>
                </a:solidFill>
              </a:rPr>
              <a:t>SQL tetap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E3375-8412-49C6-8D66-13F7F7C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7B"/>
                </a:solidFill>
              </a:defRPr>
            </a:pPr>
            <a:r>
              <a:rPr sz="1425" b="0">
                <a:solidFill>
                  <a:srgbClr val="58687B"/>
                </a:solidFill>
              </a:rPr>
              <a:t>SELECT ... WHERE nama LIKE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7AF44-43A0-42CA-B1C9-7E5F4EBE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41FF3-98B7-483A-85D1-363E281A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69"/>
                </a:solidFill>
              </a:defRPr>
            </a:pPr>
            <a:r>
              <a:rPr sz="1725" b="1">
                <a:solidFill>
                  <a:srgbClr val="173B69"/>
                </a:solidFill>
              </a:rPr>
              <a:t>Nilai terpisah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55C66-1376-4569-B515-1FE18ACC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7B"/>
                </a:solidFill>
              </a:defRPr>
            </a:pPr>
            <a:r>
              <a:rPr sz="1425" b="0">
                <a:solidFill>
                  <a:srgbClr val="58687B"/>
                </a:solidFill>
              </a:rPr>
              <a:t>[`%${q}%`]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53011-B831-469A-956D-9A1764FA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241CF-0F39-4E4E-8F0C-3154DF2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69"/>
                </a:solidFill>
              </a:defRPr>
            </a:pPr>
            <a:r>
              <a:rPr sz="1725" b="1">
                <a:solidFill>
                  <a:srgbClr val="173B69"/>
                </a:solidFill>
              </a:rPr>
              <a:t>Hasil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76BC7-8316-46C6-90A9-70A5A1AC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7B"/>
                </a:solidFill>
              </a:defRPr>
            </a:pPr>
            <a:r>
              <a:rPr sz="1425" b="0">
                <a:solidFill>
                  <a:srgbClr val="58687B"/>
                </a:solidFill>
              </a:rPr>
              <a:t>Input diperlakukan sebagai data literal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219E2-813F-4B9B-B8F9-8E6CD5F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8637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536"/>
                </a:solidFill>
              </a:defRPr>
            </a:pPr>
            <a:r>
              <a:rPr sz="1875" b="1">
                <a:solidFill>
                  <a:srgbClr val="182536"/>
                </a:solidFill>
              </a:rPr>
              <a:t>Validasi menjaga aturan bisnis; parameterization menjaga struktur query.</a:t>
            </a:r>
          </a:p>
        </p:txBody>
      </p:sp>
    </p:spTree>
    <p:extLst>
      <p:ext uri="{BB962C8B-B14F-4D97-AF65-F5344CB8AC3E}">
        <p14:creationId xmlns:p14="http://schemas.microsoft.com/office/powerpoint/2010/main" val="916217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DACD5-F116-493A-A0B8-C3C5B95A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8F2FE-42D2-47A7-B46E-6A06C4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XSS mengubah data menjadi kode yang dijalankan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CB7C6-80BF-4714-8C8A-DD3A64CA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1B1E5-7DD7-4F00-BC6F-CE99B288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81824-46C8-4FC8-AE39-F4D7CD71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9763E-66E6-4D43-93CC-9C44B0C5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BF8D6-F1EF-452C-85D8-3B3831E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69"/>
                </a:solidFill>
              </a:defRPr>
            </a:pPr>
            <a:r>
              <a:rPr sz="1725" b="1">
                <a:solidFill>
                  <a:srgbClr val="173B69"/>
                </a:solidFill>
              </a:rPr>
              <a:t>REFLECTED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301DD-9558-4853-85BF-599B4B7F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876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36"/>
                </a:solidFill>
              </a:defRPr>
            </a:pPr>
            <a:r>
              <a:rPr sz="1650" b="1">
                <a:solidFill>
                  <a:srgbClr val="182536"/>
                </a:solidFill>
              </a:rPr>
              <a:t>Payload muncul pada respons saat 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C2E96-C499-4081-B49C-0847EC94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Parameter pencarian / pesan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21E3C-F415-4EF2-89A3-461C128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C9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DA7B8-EB9C-4614-8887-5B5A0993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383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8B1F"/>
                </a:solidFill>
              </a:defRPr>
            </a:pPr>
            <a:r>
              <a:rPr sz="1725" b="1">
                <a:solidFill>
                  <a:srgbClr val="E68B1F"/>
                </a:solidFill>
              </a:rPr>
              <a:t>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8E81-0CC9-4C84-948D-783C8327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876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36"/>
                </a:solidFill>
              </a:defRPr>
            </a:pPr>
            <a:r>
              <a:rPr sz="1650" b="1">
                <a:solidFill>
                  <a:srgbClr val="182536"/>
                </a:solidFill>
              </a:rPr>
              <a:t>Payload tersimpan lalu tampil kembali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7F742-9438-4434-8E86-6041CB9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6237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Deskripsi produk / komentar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E2AEE-C380-42A0-93FE-745F1066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74132-4905-4E1A-B6E5-288B607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69"/>
                </a:solidFill>
              </a:defRPr>
            </a:pPr>
            <a:r>
              <a:rPr sz="1725" b="1">
                <a:solidFill>
                  <a:srgbClr val="173B69"/>
                </a:solidFill>
              </a:rPr>
              <a:t>DOM-BASED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1091A-70C4-49D3-8C64-CF2B7B77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876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36"/>
                </a:solidFill>
              </a:defRPr>
            </a:pPr>
            <a:r>
              <a:rPr sz="1650" b="1">
                <a:solidFill>
                  <a:srgbClr val="182536"/>
                </a:solidFill>
              </a:rPr>
              <a:t>JavaScript menulis data ke sink berbahaya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9A9D5-0396-446F-AF2F-0C5F3A4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6237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URL → innerHTML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CF5FA-D4EE-4360-9528-ACFBF17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69"/>
                </a:solidFill>
              </a:defRPr>
            </a:pPr>
            <a:r>
              <a:rPr sz="1800" b="1">
                <a:solidFill>
                  <a:srgbClr val="173B69"/>
                </a:solidFill>
              </a:rPr>
              <a:t>Sumber boleh berbeda, tetapi masalahnya sama: data tidak tepercaya mencapai sink eksekusi.</a:t>
            </a:r>
          </a:p>
        </p:txBody>
      </p:sp>
    </p:spTree>
    <p:extLst>
      <p:ext uri="{BB962C8B-B14F-4D97-AF65-F5344CB8AC3E}">
        <p14:creationId xmlns:p14="http://schemas.microsoft.com/office/powerpoint/2010/main" val="645972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A158C-7654-4F82-8172-C952550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423AF-E4CF-4973-9EED-89335FF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Untuk teks biasa, safe sink adalah pilihan paling sederhana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48B10-5B60-4E4F-9D54-F3335D79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8ACC-4BD5-40F1-BDD9-93358A0B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210CC-6CDA-4F75-9DB4-681283D3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C0C6A-2DF0-4393-8FF2-2050174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1AA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0824D-C5C3-4C67-8D41-11695C0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2"/>
                </a:solidFill>
              </a:defRPr>
            </a:pPr>
            <a:r>
              <a:rPr sz="1725" b="1">
                <a:solidFill>
                  <a:srgbClr val="A43B32"/>
                </a:solidFill>
              </a:rPr>
              <a:t>BERISIKO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CB162-DEE8-47E4-B0DB-C3B1FB3B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6"/>
                </a:solidFill>
              </a:defRPr>
            </a:pPr>
            <a:r>
              <a:rPr sz="2025" b="1">
                <a:solidFill>
                  <a:srgbClr val="182536"/>
                </a:solidFill>
              </a:rPr>
              <a:t>element.innerHTML =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EB69E-DEFE-4346-8A4B-51610B2F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87B"/>
                </a:solidFill>
              </a:defRPr>
            </a:pPr>
            <a:r>
              <a:rPr sz="1575" b="0">
                <a:solidFill>
                  <a:srgbClr val="58687B"/>
                </a:solidFill>
              </a:rPr>
              <a:t>Browser dapat menafsirkan data sebagai markup atau kode.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FC9B1-5167-4098-9A01-C2023E58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A9CF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76658-8A9A-44B4-B54F-DEC2F971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704A"/>
                </a:solidFill>
              </a:defRPr>
            </a:pPr>
            <a:r>
              <a:rPr sz="1725" b="1">
                <a:solidFill>
                  <a:srgbClr val="24704A"/>
                </a:solidFill>
              </a:rPr>
              <a:t>AMAN UNTUK TEKS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F5555-DD6B-47E8-B458-65A75EA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6"/>
                </a:solidFill>
              </a:defRPr>
            </a:pPr>
            <a:r>
              <a:rPr sz="2025" b="1">
                <a:solidFill>
                  <a:srgbClr val="182536"/>
                </a:solidFill>
              </a:rPr>
              <a:t>element.textContent =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C8E2B-A2E8-49C1-A712-FE6BD1D5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87B"/>
                </a:solidFill>
              </a:defRPr>
            </a:pPr>
            <a:r>
              <a:rPr sz="1575" b="0">
                <a:solidFill>
                  <a:srgbClr val="58687B"/>
                </a:solidFill>
              </a:rPr>
              <a:t>Browser menampilkan data sebagai teks, bukan mengeksekusinya.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FE6F6-DE23-4167-ABC0-2DEF2B8E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B69"/>
                </a:solidFill>
              </a:defRPr>
            </a:pPr>
            <a:r>
              <a:rPr sz="1875" b="1">
                <a:solidFill>
                  <a:srgbClr val="173B69"/>
                </a:solidFill>
              </a:rPr>
              <a:t>Gunakan API DOM yang aman sebelum mencoba “membersihkan” string sendiri.</a:t>
            </a:r>
          </a:p>
        </p:txBody>
      </p:sp>
    </p:spTree>
    <p:extLst>
      <p:ext uri="{BB962C8B-B14F-4D97-AF65-F5344CB8AC3E}">
        <p14:creationId xmlns:p14="http://schemas.microsoft.com/office/powerpoint/2010/main" val="1542748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EFE2E-967E-42C3-A761-FAEB283C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CBE6B-40FE-47DE-8B02-61ACE476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Escape dan sanitasi melayani kebutuhan yang berbeda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4D2E8-7994-4CB9-98EA-722193F6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05F65-0BE3-474F-8E66-3639C373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F8113-381D-468E-BD92-11FD19AB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3A10A-1337-438F-8668-0AC315D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69"/>
                </a:solidFill>
              </a:defRPr>
            </a:pPr>
            <a:r>
              <a:rPr sz="1875" b="1">
                <a:solidFill>
                  <a:srgbClr val="173B69"/>
                </a:solidFill>
              </a:rPr>
              <a:t>Tampilkan persis sebagai teks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27518-1153-4118-90FB-BBA81748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76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ED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7FCF9-761D-45E2-9057-F1AA1DC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5B91"/>
                </a:solidFill>
              </a:defRPr>
            </a:pPr>
            <a:r>
              <a:rPr sz="1650" b="1">
                <a:solidFill>
                  <a:srgbClr val="255B91"/>
                </a:solidFill>
              </a:rPr>
              <a:t>ESCAPE / OUTPUT ENCODING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1D558-A8BF-4D8F-B63E-943777BF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0EB23-12DF-4379-9812-5DF2C5B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3552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6"/>
                </a:solidFill>
              </a:defRPr>
            </a:pPr>
            <a:r>
              <a:rPr sz="1500" b="0">
                <a:solidFill>
                  <a:srgbClr val="182536"/>
                </a:solidFill>
              </a:rPr>
              <a:t>Ubah karakter bermakna menjadi entitas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C0705-A055-47B1-BDDB-FB6E4E27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AC9D6-10D3-4252-A0B0-7DA3853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67125"/>
            <a:ext cx="3552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6"/>
                </a:solidFill>
              </a:defRPr>
            </a:pPr>
            <a:r>
              <a:rPr sz="1500" b="0">
                <a:solidFill>
                  <a:srgbClr val="182536"/>
                </a:solidFill>
              </a:rPr>
              <a:t>Harus sesuai konteks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2B2D6-69CA-467C-A800-3F59CC6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FF43C-201C-4043-AAAC-ECA9655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3552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6"/>
                </a:solidFill>
              </a:defRPr>
            </a:pPr>
            <a:r>
              <a:rPr sz="1500" b="0">
                <a:solidFill>
                  <a:srgbClr val="182536"/>
                </a:solidFill>
              </a:rPr>
              <a:t>Markup tidak dirender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91E42-5046-45DC-9251-6A1E3FEC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69"/>
                </a:solidFill>
              </a:defRPr>
            </a:pPr>
            <a:r>
              <a:rPr sz="1875" b="1">
                <a:solidFill>
                  <a:srgbClr val="173B69"/>
                </a:solidFill>
              </a:rPr>
              <a:t>Izinkan sebagian markup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2B167-0C5E-4096-9526-30E3A66D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476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C9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401DC-9FD1-49CC-9FBD-1573064B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8B1F"/>
                </a:solidFill>
              </a:defRPr>
            </a:pPr>
            <a:r>
              <a:rPr sz="1650" b="1">
                <a:solidFill>
                  <a:srgbClr val="E68B1F"/>
                </a:solidFill>
              </a:rPr>
              <a:t>SANITASI 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20EBC-036D-4E0C-9A97-2E566F0C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A4CDD-6392-4587-98AC-302F7C36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552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6"/>
                </a:solidFill>
              </a:defRPr>
            </a:pPr>
            <a:r>
              <a:rPr sz="1500" b="0">
                <a:solidFill>
                  <a:srgbClr val="182536"/>
                </a:solidFill>
              </a:rPr>
              <a:t>Terapkan allowlist elemen/atribut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B6D05-B67B-47B2-BDED-8F6FDE2A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0724A-098C-4131-9B91-C3D66851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67125"/>
            <a:ext cx="3552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6"/>
                </a:solidFill>
              </a:defRPr>
            </a:pPr>
            <a:r>
              <a:rPr sz="1500" b="0">
                <a:solidFill>
                  <a:srgbClr val="182536"/>
                </a:solidFill>
              </a:rPr>
              <a:t>Gunakan library tepercaya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731CD-D065-4EA2-A277-F3E0F95E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5853B-14AF-4236-B052-462600C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3552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6"/>
                </a:solidFill>
              </a:defRPr>
            </a:pPr>
            <a:r>
              <a:rPr sz="1500" b="0">
                <a:solidFill>
                  <a:srgbClr val="182536"/>
                </a:solidFill>
              </a:rPr>
              <a:t>Perbarui policy dan dependency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6F0FE-D051-4515-870C-00985B3A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911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43B32"/>
                </a:solidFill>
              </a:defRPr>
            </a:pPr>
            <a:r>
              <a:rPr sz="2025" b="1">
                <a:solidFill>
                  <a:srgbClr val="A43B32"/>
                </a:solidFill>
              </a:rPr>
              <a:t>Jangan membuat regex “anti-XSS” sendiri.</a:t>
            </a:r>
          </a:p>
        </p:txBody>
      </p:sp>
    </p:spTree>
    <p:extLst>
      <p:ext uri="{BB962C8B-B14F-4D97-AF65-F5344CB8AC3E}">
        <p14:creationId xmlns:p14="http://schemas.microsoft.com/office/powerpoint/2010/main" val="1977251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AAB97-53A6-4A94-AD8A-909C400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B2244-D565-4F9C-B864-E492D35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Defense in depth memperkecil dampak ketika satu kontrol gagal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007CF-5C88-46B0-800A-F5D12BAC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26CDE-6C6B-43CA-B5D4-93529FB8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659A2-2D41-4325-A646-A805D6DB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819DC-4CB2-4E0E-AC54-4BA000FB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80DB-AAAE-45FD-8B26-D7446DA4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HELMET + CSP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E74A9-C425-4729-B69A-86110CA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Header browser dan pembatasan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566AA-4A63-4BB3-B9EE-8D4ED96E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4A7E0-B441-43FE-B8C0-8FACE902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81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BODY LIMIT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6E9F7-60F3-4ED7-8B4F-4478D172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288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Batasi ukuran request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922FD-824F-404F-8802-44D4EA60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BB4F2-A072-4287-B4FF-9B0D1BD5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RATE LIMIT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248AA-2E57-4E44-BB57-40D84E8E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Batasi penyalahgunaan berulang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66791-ED11-4A31-B7E6-01C979AB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93868-03FE-4D54-A679-8EFC0F49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ERROR AMAN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20231-9A47-480E-9015-1D27FC16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Tanpa stack trace, query, dan rahasia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00F61-0EA8-4B5E-9F2E-54A4C58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AC517-D666-4AE8-8F5A-8654535E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909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8B1F"/>
                </a:solidFill>
              </a:defRPr>
            </a:pPr>
            <a:r>
              <a:rPr sz="1575" b="1">
                <a:solidFill>
                  <a:srgbClr val="E68B1F"/>
                </a:solidFill>
              </a:rPr>
              <a:t>LOGGING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DDD7A-4CD5-4F1C-93D3-F9923F29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386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87B"/>
                </a:solidFill>
              </a:defRPr>
            </a:pPr>
            <a:r>
              <a:rPr sz="1350" b="0">
                <a:solidFill>
                  <a:srgbClr val="58687B"/>
                </a:solidFill>
              </a:rPr>
              <a:t>Konteks cukup, tanpa data sensitif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3C242-D6D8-4B33-8093-F2520D3C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642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536"/>
                </a:solidFill>
              </a:defRPr>
            </a:pPr>
            <a:r>
              <a:rPr sz="1500" b="1">
                <a:solidFill>
                  <a:srgbClr val="182536"/>
                </a:solidFill>
              </a:rPr>
              <a:t>Lapisan tambahan — bukan pengganti parameterized query dan safe output handling.</a:t>
            </a:r>
          </a:p>
        </p:txBody>
      </p:sp>
    </p:spTree>
    <p:extLst>
      <p:ext uri="{BB962C8B-B14F-4D97-AF65-F5344CB8AC3E}">
        <p14:creationId xmlns:p14="http://schemas.microsoft.com/office/powerpoint/2010/main" val="20869469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F1F82-1A44-40FA-B314-75C189E3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D5D70-38D8-4CA2-BA18-23EB56F4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Praktikum mengikuti satu alur: pahami → perbaiki → buktikan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46A88-B4F3-4B2B-AC9C-E7E69DF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DA06B-DB4F-462A-ABF9-74E208E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76A9E-FA7B-4083-B4C0-7C4E51EF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FE49F-7307-40BB-83A8-CB9A0011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6D016-4EB6-4470-A437-8990E6D5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C19C1-0D46-4D5D-BAEA-53417730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69"/>
                </a:solidFill>
              </a:defRPr>
            </a:pPr>
            <a:r>
              <a:rPr sz="1650" b="1">
                <a:solidFill>
                  <a:srgbClr val="173B69"/>
                </a:solidFill>
              </a:rPr>
              <a:t>Petakan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0BEFC-9DAB-4F32-8059-349D3AF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EAA25-ABC1-4026-9570-7B192FF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8125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2A4DA-656C-4BCC-82B0-D195CCE4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3985A-23C7-4AE2-AEA7-8F78D7A1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69"/>
                </a:solidFill>
              </a:defRPr>
            </a:pPr>
            <a:r>
              <a:rPr sz="1650" b="1">
                <a:solidFill>
                  <a:srgbClr val="173B69"/>
                </a:solidFill>
              </a:rPr>
              <a:t>Validasi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234A1-A53C-4EB6-A50C-EC8AF27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D46EA-FBC8-4F38-B930-952E66E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57678-2F31-4F7D-8D79-91D0D0AD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08294-826D-41E6-A7F3-06D080A1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69"/>
                </a:solidFill>
              </a:defRPr>
            </a:pPr>
            <a:r>
              <a:rPr sz="1650" b="1">
                <a:solidFill>
                  <a:srgbClr val="173B69"/>
                </a:solidFill>
              </a:rPr>
              <a:t>Parameterkan 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F7639-A1E8-4AC5-8727-0464E87D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2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730F8-227E-4018-AC86-2CDF2386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62A58-0ACF-4468-BEB2-F0F9BA8E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0885A-5DAB-4431-B770-EE4EF115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69"/>
                </a:solidFill>
              </a:defRPr>
            </a:pPr>
            <a:r>
              <a:rPr sz="1650" b="1">
                <a:solidFill>
                  <a:srgbClr val="173B69"/>
                </a:solidFill>
              </a:rPr>
              <a:t>Amankan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F8BBE-7004-4B4A-827D-913E228D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ED578-0149-49DC-8A40-625587A3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A9CF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CA304-5CDA-40D6-8847-8E4077C3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8B1F"/>
                </a:solidFill>
              </a:defRPr>
            </a:pPr>
            <a:r>
              <a:rPr sz="2100" b="1">
                <a:solidFill>
                  <a:srgbClr val="E68B1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7C554-B30F-4D03-ABE4-B2888783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704A"/>
                </a:solidFill>
              </a:defRPr>
            </a:pPr>
            <a:r>
              <a:rPr sz="1650" b="1">
                <a:solidFill>
                  <a:srgbClr val="24704A"/>
                </a:solidFill>
              </a:rPr>
              <a:t>Uji negatif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401C-0134-4BA8-A9AC-31111B9D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69"/>
                </a:solidFill>
              </a:defRPr>
            </a:pPr>
            <a:r>
              <a:rPr sz="2100" b="1">
                <a:solidFill>
                  <a:srgbClr val="173B69"/>
                </a:solidFill>
              </a:rPr>
              <a:t>Luaran: source code aman + tabel bukti + refleksi Amanah</a:t>
            </a:r>
          </a:p>
        </p:txBody>
      </p:sp>
    </p:spTree>
    <p:extLst>
      <p:ext uri="{BB962C8B-B14F-4D97-AF65-F5344CB8AC3E}">
        <p14:creationId xmlns:p14="http://schemas.microsoft.com/office/powerpoint/2010/main" val="17246381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9D575-31C0-463D-B4E6-238113F6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E2B33-483B-4AFA-AFBA-1CCEE0E2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Pengujian negatif membuktikan kontrol bekerja pada kondisi buruk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8CE3C-BE4C-4521-9F49-7BCF3945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7E48E-F2AD-449E-99C8-31B23FE0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D22D4-D426-4D34-B0AC-879A520E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E520B-CEC3-45F7-B13E-023C7803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VALIDASI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38A54-CB46-4927-BF78-DEE01E98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47825"/>
            <a:ext cx="828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63F92-680E-405B-BD9B-24DB4D1E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536"/>
                </a:solidFill>
              </a:defRPr>
            </a:pPr>
            <a:r>
              <a:rPr sz="1650" b="0">
                <a:solidFill>
                  <a:srgbClr val="182536"/>
                </a:solidFill>
              </a:rPr>
              <a:t>Kosong · tipe salah · terlalu panjang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27AC8-6EF5-492A-A7BC-8A00D56B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43B32"/>
                </a:solidFill>
              </a:defRPr>
            </a:pPr>
            <a:r>
              <a:rPr sz="1575" b="1">
                <a:solidFill>
                  <a:srgbClr val="A43B32"/>
                </a:solidFill>
              </a:rPr>
              <a:t>SQLi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E4EA0-8353-4933-9CF3-F8460D3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38425"/>
            <a:ext cx="828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007CF-2512-4DC7-B928-5E6E881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536"/>
                </a:solidFill>
              </a:defRPr>
            </a:pPr>
            <a:r>
              <a:rPr sz="1650" b="0">
                <a:solidFill>
                  <a:srgbClr val="182536"/>
                </a:solidFill>
              </a:rPr>
              <a:t>Apostrof + ekspresi boolean lokal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5B5B0-7921-4094-9672-CD3DA568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XSS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1183B-32B1-472F-8057-CD7F199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29025"/>
            <a:ext cx="828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1DD14-8614-4CB1-AA74-84008C3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536"/>
                </a:solidFill>
              </a:defRPr>
            </a:pPr>
            <a:r>
              <a:rPr sz="1650" b="0">
                <a:solidFill>
                  <a:srgbClr val="182536"/>
                </a:solidFill>
              </a:rPr>
              <a:t>Reflected · stored · DOM payload inert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7AA28-143E-4ED3-B71C-EF28FA9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9"/>
                </a:solidFill>
              </a:defRPr>
            </a:pPr>
            <a:r>
              <a:rPr sz="1575" b="1">
                <a:solidFill>
                  <a:srgbClr val="173B69"/>
                </a:solidFill>
              </a:rPr>
              <a:t>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DBEDD-E092-4A6A-ACB6-B254A64B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828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E8E16-6D5F-4C51-84F0-127F1B4A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536"/>
                </a:solidFill>
              </a:defRPr>
            </a:pPr>
            <a:r>
              <a:rPr sz="1650" b="0">
                <a:solidFill>
                  <a:srgbClr val="182536"/>
                </a:solidFill>
              </a:rPr>
              <a:t>JSON rusak · detail internal tidak bocor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2ED76-105A-4AFE-9DEE-92D4532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04A"/>
                </a:solidFill>
              </a:defRPr>
            </a:pPr>
            <a:r>
              <a:rPr sz="1725" b="1">
                <a:solidFill>
                  <a:srgbClr val="24704A"/>
                </a:solidFill>
              </a:rPr>
              <a:t>Harapan bukan “aplikasi tidak error”, tetapi respons tepat, aman, dan dapat diverifikasi.</a:t>
            </a:r>
          </a:p>
        </p:txBody>
      </p:sp>
    </p:spTree>
    <p:extLst>
      <p:ext uri="{BB962C8B-B14F-4D97-AF65-F5344CB8AC3E}">
        <p14:creationId xmlns:p14="http://schemas.microsoft.com/office/powerpoint/2010/main" val="21339913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AD3DC-8111-4D8F-AE09-820B6E09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62AAA-50AA-4E11-AC01-E19962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Rubrik menilai penerapan kontrol dan kualitas pembuktiannya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A299B-5D19-4291-946D-6F074274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59D76-0A47-4BAA-9BB5-73C8611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02DA9-10FC-48BE-B766-B218629A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E2CE6-495D-4330-A8ED-D28121A0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FC275-1D31-4991-B4D7-69060B2C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5B91"/>
                </a:solidFill>
              </a:defRPr>
            </a:pPr>
            <a:r>
              <a:rPr sz="1650" b="1">
                <a:solidFill>
                  <a:srgbClr val="255B91"/>
                </a:solidFill>
              </a:rPr>
              <a:t>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FD5B0-F7FF-4368-B913-E0EF73E1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621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36"/>
                </a:solidFill>
              </a:defRPr>
            </a:pPr>
            <a:r>
              <a:rPr sz="1650" b="1">
                <a:solidFill>
                  <a:srgbClr val="182536"/>
                </a:solidFill>
              </a:rPr>
              <a:t>Validasi server-side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5486E-4520-4B01-8AC3-325A60B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148F3-1C5E-47BD-9749-5F6243A9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5B91"/>
                </a:solidFill>
              </a:defRPr>
            </a:pPr>
            <a:r>
              <a:rPr sz="1650" b="1">
                <a:solidFill>
                  <a:srgbClr val="255B91"/>
                </a:solidFill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64A61-37DE-4579-B4CD-C3902728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527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36"/>
                </a:solidFill>
              </a:defRPr>
            </a:pPr>
            <a:r>
              <a:rPr sz="1650" b="1">
                <a:solidFill>
                  <a:srgbClr val="182536"/>
                </a:solidFill>
              </a:rPr>
              <a:t>Pencegahan SQL Injection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2EE99-99F2-4C78-A020-4229A3A2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F65B0-3173-41D5-977A-B796158E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5B91"/>
                </a:solidFill>
              </a:defRPr>
            </a:pPr>
            <a:r>
              <a:rPr sz="1650" b="1">
                <a:solidFill>
                  <a:srgbClr val="255B91"/>
                </a:solidFill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70020-DE5F-45B7-9BD5-C5FE57B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4327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36"/>
                </a:solidFill>
              </a:defRPr>
            </a:pPr>
            <a:r>
              <a:rPr sz="1650" b="1">
                <a:solidFill>
                  <a:srgbClr val="182536"/>
                </a:solidFill>
              </a:rPr>
              <a:t>Pencegahan XSS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84BC4-2B14-4E7F-A340-0B6E545B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F0AF0-7E63-4AD5-8DC7-1D222768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8B1F"/>
                </a:solidFill>
              </a:defRPr>
            </a:pPr>
            <a:r>
              <a:rPr sz="1650" b="1">
                <a:solidFill>
                  <a:srgbClr val="E68B1F"/>
                </a:solidFill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4A1BD-EF5D-4D02-9487-AE42F7F5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338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536"/>
                </a:solidFill>
              </a:defRPr>
            </a:pPr>
            <a:r>
              <a:rPr sz="1650" b="0">
                <a:solidFill>
                  <a:srgbClr val="182536"/>
                </a:solidFill>
              </a:rPr>
              <a:t>Pengujian dan bukti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59119-D427-40B4-93EA-D81453B1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849D8-1CF8-419D-B5CE-8D6393C1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244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8B1F"/>
                </a:solidFill>
              </a:defRPr>
            </a:pPr>
            <a:r>
              <a:rPr sz="1650" b="1">
                <a:solidFill>
                  <a:srgbClr val="E68B1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CCD4B-54B4-45D3-99C2-CC1FEDAD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244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536"/>
                </a:solidFill>
              </a:defRPr>
            </a:pPr>
            <a:r>
              <a:rPr sz="1650" b="0">
                <a:solidFill>
                  <a:srgbClr val="182536"/>
                </a:solidFill>
              </a:rPr>
              <a:t>Amanah, etika, dan kualitas kode</a:t>
            </a:r>
          </a:p>
        </p:txBody>
      </p:sp>
    </p:spTree>
    <p:extLst>
      <p:ext uri="{BB962C8B-B14F-4D97-AF65-F5344CB8AC3E}">
        <p14:creationId xmlns:p14="http://schemas.microsoft.com/office/powerpoint/2010/main" val="17573071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A27E5-2774-4F3B-8055-A166B3AD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87294-52F5-4F93-8C1F-F5628494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Amanah tampak pada keputusan teknis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5F5B5-66B5-4B82-A4B9-EF247648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56B6C-D3D1-439E-B041-3D6A18D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D01B2-AD64-4B4C-8AAA-01A4827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A138E-7EA2-46C3-93B2-F96C4F6D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69"/>
                </a:solidFill>
              </a:defRPr>
            </a:pPr>
            <a:r>
              <a:rPr sz="1950" b="1">
                <a:solidFill>
                  <a:srgbClr val="173B69"/>
                </a:solidFill>
              </a:rPr>
              <a:t>Sebelum menutup pertemuan, jawab tiga pertanyaan: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2226B-498A-4CEE-B5BB-5C3D363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93534-F445-44BB-8305-5DF0D52C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24125"/>
            <a:ext cx="9886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536"/>
                </a:solidFill>
              </a:defRPr>
            </a:pPr>
            <a:r>
              <a:rPr sz="1875" b="0">
                <a:solidFill>
                  <a:srgbClr val="182536"/>
                </a:solidFill>
              </a:rPr>
              <a:t>Mengapa validasi tidak menggantikan parameterized query?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B6777-D9D1-4DE6-A5F5-2E6A0AE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76EDB-DF01-449F-B8EA-A7CAA2E3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29000"/>
            <a:ext cx="9886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536"/>
                </a:solidFill>
              </a:defRPr>
            </a:pPr>
            <a:r>
              <a:rPr sz="1875" b="0">
                <a:solidFill>
                  <a:srgbClr val="182536"/>
                </a:solidFill>
              </a:rPr>
              <a:t>Kapan textContent lebih tepat daripada sanitasi HTML?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90C72-6B92-4270-8735-DF99368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156B5-C3EC-4C2C-A9E9-356B058A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33875"/>
            <a:ext cx="9886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536"/>
                </a:solidFill>
              </a:defRPr>
            </a:pPr>
            <a:r>
              <a:rPr sz="1875" b="0">
                <a:solidFill>
                  <a:srgbClr val="182536"/>
                </a:solidFill>
              </a:rPr>
              <a:t>Bagaimana kontrol ini menjaga data dan kepercayaan pengguna UMKM?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4A987-FADE-4EA0-BAE0-8D123C1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8286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6CCD6-17ED-4D52-A61D-F438AC9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292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Secure by design · Least privilege · Verifiable evidence</a:t>
            </a:r>
          </a:p>
        </p:txBody>
      </p:sp>
    </p:spTree>
    <p:extLst>
      <p:ext uri="{BB962C8B-B14F-4D97-AF65-F5344CB8AC3E}">
        <p14:creationId xmlns:p14="http://schemas.microsoft.com/office/powerpoint/2010/main" val="6639622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7B6BB-027D-4847-9ED4-9B16E7FB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8B1F"/>
                </a:solidFill>
              </a:defRPr>
            </a:pPr>
            <a:r>
              <a:rPr sz="1125" b="1">
                <a:solidFill>
                  <a:srgbClr val="E68B1F"/>
                </a:solidFill>
              </a:rPr>
              <a:t>PERTEMUAN 12 · CPMK53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282E8-BED3-41AB-9B5D-4FCA821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69"/>
                </a:solidFill>
              </a:defRPr>
            </a:pPr>
            <a:r>
              <a:rPr sz="2625" b="1">
                <a:solidFill>
                  <a:srgbClr val="173B69"/>
                </a:solidFill>
              </a:rPr>
              <a:t>Referensi dan tindak lanjut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3EF26-5AC8-4FF0-91F9-04F26EB6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03BD-D3D5-40D0-86E5-2A33D416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7B"/>
                </a:solidFill>
              </a:defRPr>
            </a:pPr>
            <a:r>
              <a:rPr sz="975" b="0">
                <a:solidFill>
                  <a:srgbClr val="58687B"/>
                </a:solidFill>
              </a:rPr>
              <a:t>TI-501 · Pengembangan Aplikasi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5DAB1-7689-47B4-861C-1781A901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87B"/>
                </a:solidFill>
              </a:defRPr>
            </a:pPr>
            <a:r>
              <a:rPr sz="975" b="1">
                <a:solidFill>
                  <a:srgbClr val="58687B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C98CB-9423-4F78-A9BF-CF61D58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81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B8170-570C-46C0-BE40-9305A43F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14500"/>
            <a:ext cx="1017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OWASP SQL Injection Prevention Cheat Sheet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8A365-EFE5-4751-9C4F-0155E55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7E059-AD32-4FBA-9B6B-F3521E1E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1017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OWASP Cross Site Scripting Prevention Cheat Sheet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55534-04A1-48E5-9EE8-101A5A1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3CE8B-D06F-4ED8-94FC-EAFA20A4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62300"/>
            <a:ext cx="1017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OWASP Input Validation Cheat Sheet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AE597-92C3-4D11-A03A-B7F1FABA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D415C-CE2C-4E88-B356-4DCE620E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86200"/>
            <a:ext cx="1017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OWASP DOM based XSS Prevention Cheat Sheet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9F054-95B2-42EB-A0EF-597FFBD3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76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B1F"/>
          </a:solidFill>
          <a:ln xmlns:a="http://schemas.openxmlformats.org/drawingml/2006/main" w="9525">
            <a:solidFill>
              <a:srgbClr val="E68B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DE676-4D6F-42C2-BDB4-01468CE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10100"/>
            <a:ext cx="1017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6"/>
                </a:solidFill>
              </a:defRPr>
            </a:pPr>
            <a:r>
              <a:rPr sz="1725" b="0">
                <a:solidFill>
                  <a:srgbClr val="182536"/>
                </a:solidFill>
              </a:rPr>
              <a:t>Lanjut pertemuan 13: reuse logic aman pada Telegram Bot API</a:t>
            </a:r>
          </a:p>
        </p:txBody>
      </p:sp>
    </p:spTree>
    <p:extLst>
      <p:ext uri="{BB962C8B-B14F-4D97-AF65-F5344CB8AC3E}">
        <p14:creationId xmlns:p14="http://schemas.microsoft.com/office/powerpoint/2010/main" val="67848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2026-08-24T03:31:40.9640000Z</dcterms:created>
  <dcterms:modified xsi:type="dcterms:W3CDTF">2026-08-24T03:31:40.9640000Z</dcterms:modified>
</coreProperties>
</file>