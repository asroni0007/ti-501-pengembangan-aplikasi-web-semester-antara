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B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lide_assets_valid/classroom_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192" y="0"/>
            <a:ext cx="6083503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108192" cy="6858000"/>
          </a:xfrm>
          <a:prstGeom prst="rect">
            <a:avLst/>
          </a:prstGeom>
          <a:solidFill>
            <a:srgbClr val="173B63"/>
          </a:solidFill>
          <a:ln w="12700">
            <a:solidFill>
              <a:srgbClr val="173B6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7498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DBF0E"/>
                </a:solidFill>
              </a:rPr>
              <a:t>Pertemuan 1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85800" y="1325880"/>
            <a:ext cx="507492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Pengantar Pengembangan Aplikasi Web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&amp; Evolusi Web 1.0–3.0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713232" y="523036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DEBFF"/>
                </a:solidFill>
              </a:rPr>
              <a:t>TI-501 Pengembangan Aplikasi Web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DEBFF"/>
                </a:solidFill>
              </a:rPr>
              <a:t>S1 Teknologi Informasi UMY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13232" y="594360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Sesi diskusi/ceramah • Tanpa kode • Sub-CPMK 51.1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Capaian, agenda, dan aturan Pertemuan 1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579"/>
                </a:solidFill>
              </a:rPr>
              <a:t>Acuan utama: README GitHub folder 01 dan RPS TI-501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TI-501 Pengembangan Aplikasi Web | Pertemuan 1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36579"/>
                </a:solidFill>
              </a:rPr>
              <a:t>02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6327648"/>
            <a:ext cx="11109960" cy="0"/>
          </a:xfrm>
          <a:prstGeom prst="line">
            <a:avLst/>
          </a:prstGeom>
          <a:noFill/>
          <a:ln w="10160">
            <a:solidFill>
              <a:srgbClr val="D9E4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444752"/>
            <a:ext cx="73152" cy="4343400"/>
          </a:xfrm>
          <a:prstGeom prst="rect">
            <a:avLst/>
          </a:prstGeom>
          <a:solidFill>
            <a:srgbClr val="FDBF0E"/>
          </a:solidFill>
          <a:ln w="12700">
            <a:solidFill>
              <a:srgbClr val="FDBF0E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417320"/>
            <a:ext cx="530352" cy="530352"/>
          </a:xfrm>
          <a:prstGeom prst="rect">
            <a:avLst/>
          </a:prstGeom>
          <a:solidFill>
            <a:srgbClr val="1F5D9C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81912" y="14447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3447"/>
                </a:solidFill>
              </a:rPr>
              <a:t>Capaian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81912" y="1764792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9"/>
                </a:solidFill>
              </a:rPr>
              <a:t>Menjelaskan konsep, tren, dan siklus pengembangan aplikasi web modern.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2615184"/>
            <a:ext cx="530352" cy="530352"/>
          </a:xfrm>
          <a:prstGeom prst="rect">
            <a:avLst/>
          </a:prstGeom>
          <a:solidFill>
            <a:srgbClr val="00796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81912" y="264261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3447"/>
                </a:solidFill>
              </a:rPr>
              <a:t>Materi inti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81912" y="2962656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9"/>
                </a:solidFill>
              </a:rPr>
              <a:t>Evolusi Web 1.0, Web 2.0, Web 3.0, client-server, dan SDLC.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68680" y="3813048"/>
            <a:ext cx="530352" cy="530352"/>
          </a:xfrm>
          <a:prstGeom prst="rect">
            <a:avLst/>
          </a:prstGeom>
          <a:solidFill>
            <a:srgbClr val="F28C0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581912" y="3840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3447"/>
                </a:solidFill>
              </a:rPr>
              <a:t>Aktivitas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81912" y="4160520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9"/>
                </a:solidFill>
              </a:rPr>
              <a:t>Membandingkan 3 aplikasi nyata dan membuat diagram client-server.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68680" y="5010912"/>
            <a:ext cx="530352" cy="530352"/>
          </a:xfrm>
          <a:prstGeom prst="rect">
            <a:avLst/>
          </a:prstGeom>
          <a:solidFill>
            <a:srgbClr val="A41D1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81912" y="503834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3447"/>
                </a:solidFill>
              </a:rPr>
              <a:t>Output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81912" y="5358384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579"/>
                </a:solidFill>
              </a:rPr>
              <a:t>Analisis individu 1 halaman. Tugas individu berbobot 5%.</a:t>
            </a:r>
            <a:endParaRPr lang="en-US" sz="1050" dirty="0"/>
          </a:p>
        </p:txBody>
      </p:sp>
      <p:pic>
        <p:nvPicPr>
          <p:cNvPr id="20" name="Image 0" descr="/mnt/data/slide_assets_valid/collab_box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234440"/>
            <a:ext cx="461772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Kontrak singkat kelas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579"/>
                </a:solidFill>
              </a:rPr>
              <a:t>Pertemuan 1 juga digunakan untuk menyamakan aturan belajar dan pengumpulan tugas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TI-501 Pengembangan Aplikasi Web | Pertemuan 1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36579"/>
                </a:solidFill>
              </a:rPr>
              <a:t>03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6327648"/>
            <a:ext cx="11109960" cy="0"/>
          </a:xfrm>
          <a:prstGeom prst="line">
            <a:avLst/>
          </a:prstGeom>
          <a:noFill/>
          <a:ln w="10160">
            <a:solidFill>
              <a:srgbClr val="D9E4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17320"/>
            <a:ext cx="5486400" cy="4297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243447"/>
                </a:solidFill>
              </a:rPr>
              <a:t>Presensi minimal 75%; izin maksimal mengikuti ketentuan perkuliahan.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243447"/>
                </a:solidFill>
              </a:rPr>
              <a:t>Keterlambatan mengikuti batas toleransi kelas dan tetap menjaga adab pembelajaran.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243447"/>
                </a:solidFill>
              </a:rPr>
              <a:t>Setiap pertemuan diawali dengan doa dan tadarus.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243447"/>
                </a:solidFill>
              </a:rPr>
              <a:t>Tugas dikumpulkan sesuai format, nama file, dan waktu yang ditentukan.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243447"/>
                </a:solidFill>
              </a:rPr>
              <a:t>AI boleh digunakan sebagai alat bantu belajar, bukan pengganti analisis pribadi.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903720" y="14630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B63"/>
                </a:solidFill>
              </a:rPr>
              <a:t>Catatan penting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903720" y="1956816"/>
            <a:ext cx="4251960" cy="1463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43447"/>
                </a:solidFill>
              </a:rPr>
              <a:t>Pertemuan ini tidak menggunakan coding. Fokusnya adalah memahami evolusi web, arsitektur dasar, dan konteks proyek semester sebelum masuk ke materi teknis.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903720" y="370332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796B"/>
                </a:solidFill>
              </a:rPr>
              <a:t>Output: dokumen analisis 1 halaman.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Mengapa memahami evolusi web?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579"/>
                </a:solidFill>
              </a:rPr>
              <a:t>Agar mahasiswa tidak hanya memakai teknologi, tetapi memahami pola arsitekturnya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TI-501 Pengembangan Aplikasi Web | Pertemuan 1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36579"/>
                </a:solidFill>
              </a:rPr>
              <a:t>04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6327648"/>
            <a:ext cx="11109960" cy="0"/>
          </a:xfrm>
          <a:prstGeom prst="line">
            <a:avLst/>
          </a:prstGeom>
          <a:noFill/>
          <a:ln w="10160">
            <a:solidFill>
              <a:srgbClr val="D9E4EF"/>
            </a:solidFill>
            <a:prstDash val="solid"/>
          </a:ln>
        </p:spPr>
      </p:sp>
      <p:pic>
        <p:nvPicPr>
          <p:cNvPr id="7" name="Image 0" descr="/mnt/data/slide_assets_valid/web2web3_wid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98448"/>
            <a:ext cx="5120640" cy="4160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0" y="1508760"/>
            <a:ext cx="475488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43447"/>
                </a:solidFill>
              </a:rPr>
              <a:t>Setiap generasi web mengubah pola relasi antara pengguna, aplikasi, server, dan data.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43447"/>
                </a:solidFill>
              </a:rPr>
              <a:t>Web modern bergerak dari halaman statis menuju layanan interaktif, API, cloud, AI, dan desentralisasi.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43447"/>
                </a:solidFill>
              </a:rPr>
              <a:t>Pemahaman ini menjadi dasar sebelum masuk ke HTML, CSS, JavaScript, backend, database, dan integrasi API.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400800" y="50749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B63"/>
                </a:solidFill>
              </a:rPr>
              <a:t>Pertanyaan kunci: aplikasi yang kita bangun masuk pola Web 1.0, Web 2.0, atau mendekati Web 3.0?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Web 1.0: web sebagai media baca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579"/>
                </a:solidFill>
              </a:rPr>
              <a:t>Generasi awal web yang dominan statis dan satu arah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TI-501 Pengembangan Aplikasi Web | Pertemuan 1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36579"/>
                </a:solidFill>
              </a:rPr>
              <a:t>05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6327648"/>
            <a:ext cx="11109960" cy="0"/>
          </a:xfrm>
          <a:prstGeom prst="line">
            <a:avLst/>
          </a:prstGeom>
          <a:noFill/>
          <a:ln w="10160">
            <a:solidFill>
              <a:srgbClr val="D9E4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25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B63"/>
                </a:solidFill>
              </a:rPr>
              <a:t>Ciri utama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1783080"/>
            <a:ext cx="475488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43447"/>
                </a:solidFill>
              </a:rPr>
              <a:t>Konten statis, jarang berubah, dan umumnya hanya dibaca.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43447"/>
                </a:solidFill>
              </a:rPr>
              <a:t>Interaksi pengguna sangat terbatas.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43447"/>
                </a:solidFill>
              </a:rPr>
              <a:t>Halaman HTML sederhana tanpa aplikasi dinamis kompleks.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43447"/>
                </a:solidFill>
              </a:rPr>
              <a:t>Arsitektur: pengguna meminta halaman; server mengirim dokumen.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46520" y="13258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B63"/>
                </a:solidFill>
              </a:rPr>
              <a:t>Contoh yang bisa dianalisis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92240" y="1783080"/>
            <a:ext cx="4389120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43447"/>
                </a:solidFill>
              </a:rPr>
              <a:t>Website profil statis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43447"/>
                </a:solidFill>
              </a:rPr>
              <a:t>Arsip dokumen HTML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43447"/>
                </a:solidFill>
              </a:rPr>
              <a:t>Halaman informasi kampus lama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43447"/>
                </a:solidFill>
              </a:rPr>
              <a:t>Landing page tanpa login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47091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96B"/>
                </a:solidFill>
              </a:rPr>
              <a:t>Kata kunci: publish, read-only, static page.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Web 2.0: web sebagai platform interaktif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579"/>
                </a:solidFill>
              </a:rPr>
              <a:t>Pengguna ikut membuat data, berinteraksi, dan memakai layanan aplikasi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TI-501 Pengembangan Aplikasi Web | Pertemuan 1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36579"/>
                </a:solidFill>
              </a:rPr>
              <a:t>06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6327648"/>
            <a:ext cx="11109960" cy="0"/>
          </a:xfrm>
          <a:prstGeom prst="line">
            <a:avLst/>
          </a:prstGeom>
          <a:noFill/>
          <a:ln w="10160">
            <a:solidFill>
              <a:srgbClr val="D9E4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4800600" cy="4023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43447"/>
                </a:solidFill>
              </a:rPr>
              <a:t>Login, komentar, unggahan, transaksi, dan data pengguna.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43447"/>
                </a:solidFill>
              </a:rPr>
              <a:t>Frontend berkomunikasi dengan backend/API.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43447"/>
                </a:solidFill>
              </a:rPr>
              <a:t>Database menyimpan konten dan aktivitas pengguna.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43447"/>
                </a:solidFill>
              </a:rPr>
              <a:t>Model utama untuk sebagian besar aplikasi web modern.</a:t>
            </a:r>
            <a:endParaRPr lang="en-US" sz="1700" dirty="0"/>
          </a:p>
        </p:txBody>
      </p:sp>
      <p:pic>
        <p:nvPicPr>
          <p:cNvPr id="8" name="Image 0" descr="/mnt/data/slide_assets_valid/classroom_wid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280160"/>
            <a:ext cx="5074920" cy="3794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172200" y="5285232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3B63"/>
                </a:solidFill>
              </a:rPr>
              <a:t>Contoh: e-commerce, LMS, media sosial, dashboard akademik, aplikasi layanan UMKM.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Web 3.0: web dengan ide desentralisasi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579"/>
                </a:solidFill>
              </a:rPr>
              <a:t>Wawasan tren, bukan fokus coding Pertemuan 1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TI-501 Pengembangan Aplikasi Web | Pertemuan 1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36579"/>
                </a:solidFill>
              </a:rPr>
              <a:t>07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6327648"/>
            <a:ext cx="11109960" cy="0"/>
          </a:xfrm>
          <a:prstGeom prst="line">
            <a:avLst/>
          </a:prstGeom>
          <a:noFill/>
          <a:ln w="10160">
            <a:solidFill>
              <a:srgbClr val="D9E4EF"/>
            </a:solidFill>
            <a:prstDash val="solid"/>
          </a:ln>
        </p:spPr>
      </p:sp>
      <p:pic>
        <p:nvPicPr>
          <p:cNvPr id="7" name="Image 0" descr="/mnt/data/slide_assets_valid/web3_box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34440"/>
            <a:ext cx="5166360" cy="4160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0" y="1417320"/>
            <a:ext cx="4754880" cy="3566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43447"/>
                </a:solidFill>
              </a:rPr>
              <a:t>Data dan proses tidak selalu bergantung pada satu server pusat.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43447"/>
                </a:solidFill>
              </a:rPr>
              <a:t>Muncul konsep wallet, blockchain, smart contract, token, dan dApps.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43447"/>
                </a:solidFill>
              </a:rPr>
              <a:t>Cocok dipahami sebagai pembanding terhadap arsitektur client-server tradisional.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43447"/>
                </a:solidFill>
              </a:rPr>
              <a:t>Dalam mata kuliah ini, Web3 menjadi wawasan tren dan pengayaan.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400800" y="519379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96B"/>
                </a:solidFill>
              </a:rPr>
              <a:t>Fokus praktikum semester tetap: aplikasi web client-server modern.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Perbandingan Web 1.0, Web 2.0, dan Web 3.0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579"/>
                </a:solidFill>
              </a:rPr>
              <a:t>Gunakan kerangka ini untuk aktivitas dan tugas individu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TI-501 Pengembangan Aplikasi Web | Pertemuan 1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36579"/>
                </a:solidFill>
              </a:rPr>
              <a:t>08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6327648"/>
            <a:ext cx="11109960" cy="0"/>
          </a:xfrm>
          <a:prstGeom prst="line">
            <a:avLst/>
          </a:prstGeom>
          <a:noFill/>
          <a:ln w="10160">
            <a:solidFill>
              <a:srgbClr val="D9E4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325880"/>
            <a:ext cx="1920240" cy="658368"/>
          </a:xfrm>
          <a:prstGeom prst="rect">
            <a:avLst/>
          </a:prstGeom>
          <a:solidFill>
            <a:srgbClr val="173B63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435608"/>
            <a:ext cx="1773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Aspek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78608" y="1325880"/>
            <a:ext cx="2743200" cy="658368"/>
          </a:xfrm>
          <a:prstGeom prst="rect">
            <a:avLst/>
          </a:prstGeom>
          <a:solidFill>
            <a:srgbClr val="173B63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1435608"/>
            <a:ext cx="25968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Web 1.0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321808" y="1325880"/>
            <a:ext cx="3017520" cy="658368"/>
          </a:xfrm>
          <a:prstGeom prst="rect">
            <a:avLst/>
          </a:prstGeom>
          <a:solidFill>
            <a:srgbClr val="173B63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0" y="1435608"/>
            <a:ext cx="2871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Web 2.0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339328" y="1325880"/>
            <a:ext cx="3154680" cy="658368"/>
          </a:xfrm>
          <a:prstGeom prst="rect">
            <a:avLst/>
          </a:prstGeom>
          <a:solidFill>
            <a:srgbClr val="173B63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1435608"/>
            <a:ext cx="30083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Web 3.0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8368" y="1984248"/>
            <a:ext cx="192024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093976"/>
            <a:ext cx="1773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43447"/>
                </a:solidFill>
              </a:rPr>
              <a:t>Peran pengguna</a:t>
            </a:r>
            <a:endParaRPr lang="en-US" sz="1140" dirty="0"/>
          </a:p>
        </p:txBody>
      </p:sp>
      <p:sp>
        <p:nvSpPr>
          <p:cNvPr id="17" name="Shape 15"/>
          <p:cNvSpPr/>
          <p:nvPr/>
        </p:nvSpPr>
        <p:spPr>
          <a:xfrm>
            <a:off x="2578608" y="1984248"/>
            <a:ext cx="274320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2093976"/>
            <a:ext cx="25968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dirty="0">
                <a:solidFill>
                  <a:srgbClr val="243447"/>
                </a:solidFill>
              </a:rPr>
              <a:t>Pembaca</a:t>
            </a:r>
            <a:endParaRPr lang="en-US" sz="1140" dirty="0"/>
          </a:p>
        </p:txBody>
      </p:sp>
      <p:sp>
        <p:nvSpPr>
          <p:cNvPr id="19" name="Shape 17"/>
          <p:cNvSpPr/>
          <p:nvPr/>
        </p:nvSpPr>
        <p:spPr>
          <a:xfrm>
            <a:off x="5321808" y="1984248"/>
            <a:ext cx="301752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94960" y="2093976"/>
            <a:ext cx="2871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dirty="0">
                <a:solidFill>
                  <a:srgbClr val="243447"/>
                </a:solidFill>
              </a:rPr>
              <a:t>Pembuat konten &amp; pengguna layanan</a:t>
            </a:r>
            <a:endParaRPr lang="en-US" sz="1140" dirty="0"/>
          </a:p>
        </p:txBody>
      </p:sp>
      <p:sp>
        <p:nvSpPr>
          <p:cNvPr id="21" name="Shape 19"/>
          <p:cNvSpPr/>
          <p:nvPr/>
        </p:nvSpPr>
        <p:spPr>
          <a:xfrm>
            <a:off x="8339328" y="1984248"/>
            <a:ext cx="315468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0" y="2093976"/>
            <a:ext cx="30083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dirty="0">
                <a:solidFill>
                  <a:srgbClr val="243447"/>
                </a:solidFill>
              </a:rPr>
              <a:t>Pemilik identitas/aset digital</a:t>
            </a:r>
            <a:endParaRPr lang="en-US" sz="1140" dirty="0"/>
          </a:p>
        </p:txBody>
      </p:sp>
      <p:sp>
        <p:nvSpPr>
          <p:cNvPr id="23" name="Shape 21"/>
          <p:cNvSpPr/>
          <p:nvPr/>
        </p:nvSpPr>
        <p:spPr>
          <a:xfrm>
            <a:off x="658368" y="2642616"/>
            <a:ext cx="1920240" cy="658368"/>
          </a:xfrm>
          <a:prstGeom prst="rect">
            <a:avLst/>
          </a:prstGeom>
          <a:solidFill>
            <a:srgbClr val="F7FAFD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2752344"/>
            <a:ext cx="1773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43447"/>
                </a:solidFill>
              </a:rPr>
              <a:t>Interaksi</a:t>
            </a:r>
            <a:endParaRPr lang="en-US" sz="1140" dirty="0"/>
          </a:p>
        </p:txBody>
      </p:sp>
      <p:sp>
        <p:nvSpPr>
          <p:cNvPr id="25" name="Shape 23"/>
          <p:cNvSpPr/>
          <p:nvPr/>
        </p:nvSpPr>
        <p:spPr>
          <a:xfrm>
            <a:off x="2578608" y="2642616"/>
            <a:ext cx="2743200" cy="658368"/>
          </a:xfrm>
          <a:prstGeom prst="rect">
            <a:avLst/>
          </a:prstGeom>
          <a:solidFill>
            <a:srgbClr val="F7FAFD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52344"/>
            <a:ext cx="25968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dirty="0">
                <a:solidFill>
                  <a:srgbClr val="243447"/>
                </a:solidFill>
              </a:rPr>
              <a:t>Satu arah</a:t>
            </a:r>
            <a:endParaRPr lang="en-US" sz="1140" dirty="0"/>
          </a:p>
        </p:txBody>
      </p:sp>
      <p:sp>
        <p:nvSpPr>
          <p:cNvPr id="27" name="Shape 25"/>
          <p:cNvSpPr/>
          <p:nvPr/>
        </p:nvSpPr>
        <p:spPr>
          <a:xfrm>
            <a:off x="5321808" y="2642616"/>
            <a:ext cx="3017520" cy="658368"/>
          </a:xfrm>
          <a:prstGeom prst="rect">
            <a:avLst/>
          </a:prstGeom>
          <a:solidFill>
            <a:srgbClr val="F7FAFD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94960" y="2752344"/>
            <a:ext cx="2871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dirty="0">
                <a:solidFill>
                  <a:srgbClr val="243447"/>
                </a:solidFill>
              </a:rPr>
              <a:t>Dua arah &amp; real-time</a:t>
            </a:r>
            <a:endParaRPr lang="en-US" sz="1140" dirty="0"/>
          </a:p>
        </p:txBody>
      </p:sp>
      <p:sp>
        <p:nvSpPr>
          <p:cNvPr id="29" name="Shape 27"/>
          <p:cNvSpPr/>
          <p:nvPr/>
        </p:nvSpPr>
        <p:spPr>
          <a:xfrm>
            <a:off x="8339328" y="2642616"/>
            <a:ext cx="3154680" cy="658368"/>
          </a:xfrm>
          <a:prstGeom prst="rect">
            <a:avLst/>
          </a:prstGeom>
          <a:solidFill>
            <a:srgbClr val="F7FAFD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0" y="2752344"/>
            <a:ext cx="30083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dirty="0">
                <a:solidFill>
                  <a:srgbClr val="243447"/>
                </a:solidFill>
              </a:rPr>
              <a:t>Transaksi terdesentralisasi</a:t>
            </a:r>
            <a:endParaRPr lang="en-US" sz="1140" dirty="0"/>
          </a:p>
        </p:txBody>
      </p:sp>
      <p:sp>
        <p:nvSpPr>
          <p:cNvPr id="31" name="Shape 29"/>
          <p:cNvSpPr/>
          <p:nvPr/>
        </p:nvSpPr>
        <p:spPr>
          <a:xfrm>
            <a:off x="658368" y="3300984"/>
            <a:ext cx="192024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3410712"/>
            <a:ext cx="1773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43447"/>
                </a:solidFill>
              </a:rPr>
              <a:t>Data</a:t>
            </a:r>
            <a:endParaRPr lang="en-US" sz="1140" dirty="0"/>
          </a:p>
        </p:txBody>
      </p:sp>
      <p:sp>
        <p:nvSpPr>
          <p:cNvPr id="33" name="Shape 31"/>
          <p:cNvSpPr/>
          <p:nvPr/>
        </p:nvSpPr>
        <p:spPr>
          <a:xfrm>
            <a:off x="2578608" y="3300984"/>
            <a:ext cx="274320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410712"/>
            <a:ext cx="25968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dirty="0">
                <a:solidFill>
                  <a:srgbClr val="243447"/>
                </a:solidFill>
              </a:rPr>
              <a:t>Halaman/server</a:t>
            </a:r>
            <a:endParaRPr lang="en-US" sz="1140" dirty="0"/>
          </a:p>
        </p:txBody>
      </p:sp>
      <p:sp>
        <p:nvSpPr>
          <p:cNvPr id="35" name="Shape 33"/>
          <p:cNvSpPr/>
          <p:nvPr/>
        </p:nvSpPr>
        <p:spPr>
          <a:xfrm>
            <a:off x="5321808" y="3300984"/>
            <a:ext cx="301752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94960" y="3410712"/>
            <a:ext cx="2871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dirty="0">
                <a:solidFill>
                  <a:srgbClr val="243447"/>
                </a:solidFill>
              </a:rPr>
              <a:t>Database aplikasi</a:t>
            </a:r>
            <a:endParaRPr lang="en-US" sz="1140" dirty="0"/>
          </a:p>
        </p:txBody>
      </p:sp>
      <p:sp>
        <p:nvSpPr>
          <p:cNvPr id="37" name="Shape 35"/>
          <p:cNvSpPr/>
          <p:nvPr/>
        </p:nvSpPr>
        <p:spPr>
          <a:xfrm>
            <a:off x="8339328" y="3300984"/>
            <a:ext cx="315468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12480" y="3410712"/>
            <a:ext cx="30083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dirty="0">
                <a:solidFill>
                  <a:srgbClr val="243447"/>
                </a:solidFill>
              </a:rPr>
              <a:t>Ledger/jaringan terdistribusi</a:t>
            </a:r>
            <a:endParaRPr lang="en-US" sz="1140" dirty="0"/>
          </a:p>
        </p:txBody>
      </p:sp>
      <p:sp>
        <p:nvSpPr>
          <p:cNvPr id="39" name="Shape 37"/>
          <p:cNvSpPr/>
          <p:nvPr/>
        </p:nvSpPr>
        <p:spPr>
          <a:xfrm>
            <a:off x="658368" y="3959352"/>
            <a:ext cx="1920240" cy="658368"/>
          </a:xfrm>
          <a:prstGeom prst="rect">
            <a:avLst/>
          </a:prstGeom>
          <a:solidFill>
            <a:srgbClr val="F7FAFD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4069080"/>
            <a:ext cx="1773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43447"/>
                </a:solidFill>
              </a:rPr>
              <a:t>Contoh</a:t>
            </a:r>
            <a:endParaRPr lang="en-US" sz="1140" dirty="0"/>
          </a:p>
        </p:txBody>
      </p:sp>
      <p:sp>
        <p:nvSpPr>
          <p:cNvPr id="41" name="Shape 39"/>
          <p:cNvSpPr/>
          <p:nvPr/>
        </p:nvSpPr>
        <p:spPr>
          <a:xfrm>
            <a:off x="2578608" y="3959352"/>
            <a:ext cx="2743200" cy="658368"/>
          </a:xfrm>
          <a:prstGeom prst="rect">
            <a:avLst/>
          </a:prstGeom>
          <a:solidFill>
            <a:srgbClr val="F7FAFD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51760" y="4069080"/>
            <a:ext cx="25968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dirty="0">
                <a:solidFill>
                  <a:srgbClr val="243447"/>
                </a:solidFill>
              </a:rPr>
              <a:t>Profil statis</a:t>
            </a:r>
            <a:endParaRPr lang="en-US" sz="1140" dirty="0"/>
          </a:p>
        </p:txBody>
      </p:sp>
      <p:sp>
        <p:nvSpPr>
          <p:cNvPr id="43" name="Shape 41"/>
          <p:cNvSpPr/>
          <p:nvPr/>
        </p:nvSpPr>
        <p:spPr>
          <a:xfrm>
            <a:off x="5321808" y="3959352"/>
            <a:ext cx="3017520" cy="658368"/>
          </a:xfrm>
          <a:prstGeom prst="rect">
            <a:avLst/>
          </a:prstGeom>
          <a:solidFill>
            <a:srgbClr val="F7FAFD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94960" y="4069080"/>
            <a:ext cx="2871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dirty="0">
                <a:solidFill>
                  <a:srgbClr val="243447"/>
                </a:solidFill>
              </a:rPr>
              <a:t>LMS/e-commerce</a:t>
            </a:r>
            <a:endParaRPr lang="en-US" sz="1140" dirty="0"/>
          </a:p>
        </p:txBody>
      </p:sp>
      <p:sp>
        <p:nvSpPr>
          <p:cNvPr id="45" name="Shape 43"/>
          <p:cNvSpPr/>
          <p:nvPr/>
        </p:nvSpPr>
        <p:spPr>
          <a:xfrm>
            <a:off x="8339328" y="3959352"/>
            <a:ext cx="3154680" cy="658368"/>
          </a:xfrm>
          <a:prstGeom prst="rect">
            <a:avLst/>
          </a:prstGeom>
          <a:solidFill>
            <a:srgbClr val="F7FAFD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412480" y="4069080"/>
            <a:ext cx="30083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dirty="0">
                <a:solidFill>
                  <a:srgbClr val="243447"/>
                </a:solidFill>
              </a:rPr>
              <a:t>dApp/marketplace NFT</a:t>
            </a:r>
            <a:endParaRPr lang="en-US" sz="1140" dirty="0"/>
          </a:p>
        </p:txBody>
      </p:sp>
      <p:sp>
        <p:nvSpPr>
          <p:cNvPr id="47" name="Text 45"/>
          <p:cNvSpPr/>
          <p:nvPr/>
        </p:nvSpPr>
        <p:spPr>
          <a:xfrm>
            <a:off x="777240" y="5705856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96B"/>
                </a:solidFill>
              </a:rPr>
              <a:t>Catatan: pilih aplikasi nyata, bukan hanya definisi teori.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Arsitektur client-server sederhana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579"/>
                </a:solidFill>
              </a:rPr>
              <a:t>Diagram yang harus dibuat mahasiswa pada tugas Pertemuan 1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TI-501 Pengembangan Aplikasi Web | Pertemuan 1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36579"/>
                </a:solidFill>
              </a:rPr>
              <a:t>09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6327648"/>
            <a:ext cx="11109960" cy="0"/>
          </a:xfrm>
          <a:prstGeom prst="line">
            <a:avLst/>
          </a:prstGeom>
          <a:noFill/>
          <a:ln w="10160">
            <a:solidFill>
              <a:srgbClr val="D9E4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0" y="2926080"/>
            <a:ext cx="1234440" cy="0"/>
          </a:xfrm>
          <a:prstGeom prst="line">
            <a:avLst/>
          </a:prstGeom>
          <a:noFill/>
          <a:ln w="25400">
            <a:solidFill>
              <a:srgbClr val="1F5D9C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212080" y="2926080"/>
            <a:ext cx="1234440" cy="0"/>
          </a:xfrm>
          <a:prstGeom prst="line">
            <a:avLst/>
          </a:prstGeom>
          <a:noFill/>
          <a:ln w="25400">
            <a:solidFill>
              <a:srgbClr val="1F5D9C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772400" y="2926080"/>
            <a:ext cx="1143000" cy="0"/>
          </a:xfrm>
          <a:prstGeom prst="line">
            <a:avLst/>
          </a:prstGeom>
          <a:noFill/>
          <a:ln w="25400">
            <a:solidFill>
              <a:srgbClr val="1F5D9C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22960" y="2331720"/>
            <a:ext cx="1874520" cy="1143000"/>
          </a:xfrm>
          <a:prstGeom prst="roundRect">
            <a:avLst>
              <a:gd name="adj" fmla="val 8000"/>
            </a:avLst>
          </a:prstGeom>
          <a:solidFill>
            <a:srgbClr val="F28C00"/>
          </a:solidFill>
          <a:ln w="12700">
            <a:solidFill>
              <a:srgbClr val="F28C0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55117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Pengguna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2688" y="2971800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4FF"/>
                </a:solidFill>
              </a:rPr>
              <a:t>Browser / Mobile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37560" y="2331720"/>
            <a:ext cx="1874520" cy="1143000"/>
          </a:xfrm>
          <a:prstGeom prst="roundRect">
            <a:avLst>
              <a:gd name="adj" fmla="val 8000"/>
            </a:avLst>
          </a:prstGeom>
          <a:solidFill>
            <a:srgbClr val="1F5D9C"/>
          </a:solidFill>
          <a:ln w="12700">
            <a:solidFill>
              <a:srgbClr val="1F5D9C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10712" y="255117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Frontend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447288" y="2971800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4FF"/>
                </a:solidFill>
              </a:rPr>
              <a:t>HTML, CSS, JS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897880" y="2331720"/>
            <a:ext cx="1874520" cy="1143000"/>
          </a:xfrm>
          <a:prstGeom prst="roundRect">
            <a:avLst>
              <a:gd name="adj" fmla="val 8000"/>
            </a:avLst>
          </a:prstGeom>
          <a:solidFill>
            <a:srgbClr val="00796B"/>
          </a:solidFill>
          <a:ln w="12700">
            <a:solidFill>
              <a:srgbClr val="00796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71032" y="255117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Backend/API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007608" y="2971800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4FF"/>
                </a:solidFill>
              </a:rPr>
              <a:t>Node.js, Express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366760" y="2331720"/>
            <a:ext cx="1874520" cy="1143000"/>
          </a:xfrm>
          <a:prstGeom prst="roundRect">
            <a:avLst>
              <a:gd name="adj" fmla="val 8000"/>
            </a:avLst>
          </a:prstGeom>
          <a:solidFill>
            <a:srgbClr val="004B2F"/>
          </a:solidFill>
          <a:ln w="12700">
            <a:solidFill>
              <a:srgbClr val="004B2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39912" y="255117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Database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476488" y="2971800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4FF"/>
                </a:solidFill>
              </a:rPr>
              <a:t>MySQL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14400" y="4709160"/>
            <a:ext cx="10012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B63"/>
                </a:solidFill>
              </a:rPr>
              <a:t>Opsional pada semester: AI API, Telegram Bot, WhatsApp Cloud API, keamanan, testing, dan deployment.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Pemetaan diagram ke stack semester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579"/>
                </a:solidFill>
              </a:rPr>
              <a:t>Pertemuan 1 hanya memahami peta besarnya, belum menulis kode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TI-501 Pengembangan Aplikasi Web | Pertemuan 1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36579"/>
                </a:solidFill>
              </a:rPr>
              <a:t>10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6327648"/>
            <a:ext cx="11109960" cy="0"/>
          </a:xfrm>
          <a:prstGeom prst="line">
            <a:avLst/>
          </a:prstGeom>
          <a:noFill/>
          <a:ln w="10160">
            <a:solidFill>
              <a:srgbClr val="D9E4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35331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5D9C"/>
                </a:solidFill>
              </a:rPr>
              <a:t>Frontend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971800" y="135331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</a:rPr>
              <a:t>HTML5, CSS3, JavaScript, React sebagai pengayaan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1837944"/>
            <a:ext cx="9966960" cy="0"/>
          </a:xfrm>
          <a:prstGeom prst="line">
            <a:avLst/>
          </a:prstGeom>
          <a:noFill/>
          <a:ln w="10160">
            <a:solidFill>
              <a:srgbClr val="D9E4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13969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0796B"/>
                </a:solidFill>
              </a:rPr>
              <a:t>Backend/API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971800" y="2139696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</a:rPr>
              <a:t>Node.js, Express.js, REST API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2624328"/>
            <a:ext cx="9966960" cy="0"/>
          </a:xfrm>
          <a:prstGeom prst="line">
            <a:avLst/>
          </a:prstGeom>
          <a:noFill/>
          <a:ln w="10160">
            <a:solidFill>
              <a:srgbClr val="D9E4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9260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28C00"/>
                </a:solidFill>
              </a:rPr>
              <a:t>Database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971800" y="292608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</a:rPr>
              <a:t>MySQL dan CRUD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2960" y="3410712"/>
            <a:ext cx="9966960" cy="0"/>
          </a:xfrm>
          <a:prstGeom prst="line">
            <a:avLst/>
          </a:prstGeom>
          <a:noFill/>
          <a:ln w="10160">
            <a:solidFill>
              <a:srgbClr val="D9E4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71246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41D1F"/>
                </a:solidFill>
              </a:rPr>
              <a:t>Integrasi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971800" y="3712464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</a:rPr>
              <a:t>Gemini/OpenAI API, Telegram Bot, WhatsApp Cloud API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2960" y="4197096"/>
            <a:ext cx="9966960" cy="0"/>
          </a:xfrm>
          <a:prstGeom prst="line">
            <a:avLst/>
          </a:prstGeom>
          <a:noFill/>
          <a:ln w="10160">
            <a:solidFill>
              <a:srgbClr val="D9E4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49884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04B2F"/>
                </a:solidFill>
              </a:rPr>
              <a:t>Kualitas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971800" y="4498848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</a:rPr>
              <a:t>Keamanan dasar, testing, dokumentasi, deployment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22960" y="4983480"/>
            <a:ext cx="9966960" cy="0"/>
          </a:xfrm>
          <a:prstGeom prst="line">
            <a:avLst/>
          </a:prstGeom>
          <a:noFill/>
          <a:ln w="10160">
            <a:solidFill>
              <a:srgbClr val="D9E4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562356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B63"/>
                </a:solidFill>
              </a:rPr>
              <a:t>Garis besar ini membantu mahasiswa melihat hubungan antara materi mingguan dan proyek semester “Asisten AI untuk UMKM”.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SDLC: siklus kerja pengembangan aplikasi web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579"/>
                </a:solidFill>
              </a:rPr>
              <a:t>Dari masalah pengguna sampai aplikasi diuji dan dipublikasikan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TI-501 Pengembangan Aplikasi Web | Pertemuan 1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36579"/>
                </a:solidFill>
              </a:rPr>
              <a:t>11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6327648"/>
            <a:ext cx="11109960" cy="0"/>
          </a:xfrm>
          <a:prstGeom prst="line">
            <a:avLst/>
          </a:prstGeom>
          <a:noFill/>
          <a:ln w="10160">
            <a:solidFill>
              <a:srgbClr val="D9E4EF"/>
            </a:solidFill>
            <a:prstDash val="solid"/>
          </a:ln>
        </p:spPr>
      </p:sp>
      <p:pic>
        <p:nvPicPr>
          <p:cNvPr id="7" name="Image 0" descr="/mnt/data/slide_assets_valid/lifecycle_box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34440"/>
            <a:ext cx="4892040" cy="4160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63640" y="1353312"/>
            <a:ext cx="4937760" cy="4206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50" dirty="0">
                <a:solidFill>
                  <a:srgbClr val="243447"/>
                </a:solidFill>
              </a:rPr>
              <a:t>Analisis kebutuhan: memahami masalah dan pengguna.</a:t>
            </a:r>
            <a:endParaRPr lang="en-US" sz="1650" dirty="0"/>
          </a:p>
          <a:p>
            <a:pPr marL="152400" indent="-152400">
              <a:buSzPct val="100000"/>
              <a:buChar char="•"/>
            </a:pPr>
            <a:r>
              <a:rPr lang="en-US" sz="1650" dirty="0">
                <a:solidFill>
                  <a:srgbClr val="243447"/>
                </a:solidFill>
              </a:rPr>
              <a:t>Desain: merancang antarmuka, alur, dan arsitektur.</a:t>
            </a:r>
            <a:endParaRPr lang="en-US" sz="1650" dirty="0"/>
          </a:p>
          <a:p>
            <a:pPr marL="152400" indent="-152400">
              <a:buSzPct val="100000"/>
              <a:buChar char="•"/>
            </a:pPr>
            <a:r>
              <a:rPr lang="en-US" sz="1650" dirty="0">
                <a:solidFill>
                  <a:srgbClr val="243447"/>
                </a:solidFill>
              </a:rPr>
              <a:t>Implementasi: membangun frontend, backend, database, dan integrasi API.</a:t>
            </a:r>
            <a:endParaRPr lang="en-US" sz="1650" dirty="0"/>
          </a:p>
          <a:p>
            <a:pPr marL="152400" indent="-152400">
              <a:buSzPct val="100000"/>
              <a:buChar char="•"/>
            </a:pPr>
            <a:r>
              <a:rPr lang="en-US" sz="1650" dirty="0">
                <a:solidFill>
                  <a:srgbClr val="243447"/>
                </a:solidFill>
              </a:rPr>
              <a:t>Pengujian: memastikan fungsi berjalan dan aman.</a:t>
            </a:r>
            <a:endParaRPr lang="en-US" sz="1650" dirty="0"/>
          </a:p>
          <a:p>
            <a:pPr marL="152400" indent="-152400">
              <a:buSzPct val="100000"/>
              <a:buChar char="•"/>
            </a:pPr>
            <a:r>
              <a:rPr lang="en-US" sz="1650" dirty="0">
                <a:solidFill>
                  <a:srgbClr val="243447"/>
                </a:solidFill>
              </a:rPr>
              <a:t>Deployment dan evaluasi: memublikasikan, memonitor, dan memperbaiki.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Studi kasus semester: Asisten AI untuk UMKM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579"/>
                </a:solidFill>
              </a:rPr>
              <a:t>Pengenalan konteks proyek, bukan tugas analisis kebutuhan pada Pertemuan 1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TI-501 Pengembangan Aplikasi Web | Pertemuan 1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36579"/>
                </a:solidFill>
              </a:rPr>
              <a:t>12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6327648"/>
            <a:ext cx="11109960" cy="0"/>
          </a:xfrm>
          <a:prstGeom prst="line">
            <a:avLst/>
          </a:prstGeom>
          <a:noFill/>
          <a:ln w="10160">
            <a:solidFill>
              <a:srgbClr val="D9E4EF"/>
            </a:solidFill>
            <a:prstDash val="solid"/>
          </a:ln>
        </p:spPr>
      </p:sp>
      <p:pic>
        <p:nvPicPr>
          <p:cNvPr id="7" name="Image 0" descr="/mnt/data/slide_assets_valid/classroom_box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34440"/>
            <a:ext cx="4846320" cy="4069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172200" y="1353312"/>
            <a:ext cx="493776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50" dirty="0">
                <a:solidFill>
                  <a:srgbClr val="243447"/>
                </a:solidFill>
              </a:rPr>
              <a:t>Aplikasi web client-server untuk membantu UMKM menghasilkan konten atau respons otomatis.</a:t>
            </a:r>
            <a:endParaRPr lang="en-US" sz="1650" dirty="0"/>
          </a:p>
          <a:p>
            <a:pPr marL="152400" indent="-152400">
              <a:buSzPct val="100000"/>
              <a:buChar char="•"/>
            </a:pPr>
            <a:r>
              <a:rPr lang="en-US" sz="1650" dirty="0">
                <a:solidFill>
                  <a:srgbClr val="243447"/>
                </a:solidFill>
              </a:rPr>
              <a:t>Backend akan menghubungkan aplikasi dengan database dan API AI.</a:t>
            </a:r>
            <a:endParaRPr lang="en-US" sz="1650" dirty="0"/>
          </a:p>
          <a:p>
            <a:pPr marL="152400" indent="-152400">
              <a:buSzPct val="100000"/>
              <a:buChar char="•"/>
            </a:pPr>
            <a:r>
              <a:rPr lang="en-US" sz="1650" dirty="0">
                <a:solidFill>
                  <a:srgbClr val="243447"/>
                </a:solidFill>
              </a:rPr>
              <a:t>Integrasi lanjutan dapat mengarah ke kanal Telegram atau WhatsApp.</a:t>
            </a:r>
            <a:endParaRPr lang="en-US" sz="1650" dirty="0"/>
          </a:p>
          <a:p>
            <a:pPr marL="152400" indent="-152400">
              <a:buSzPct val="100000"/>
              <a:buChar char="•"/>
            </a:pPr>
            <a:r>
              <a:rPr lang="en-US" sz="1650" dirty="0">
                <a:solidFill>
                  <a:srgbClr val="243447"/>
                </a:solidFill>
              </a:rPr>
              <a:t>Pada Pertemuan 1, mahasiswa cukup memahami posisi proyek ini dalam arsitektur dan SDLC.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6199632" y="532180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41D1F"/>
                </a:solidFill>
              </a:rPr>
              <a:t>Tidak ada coding pada sesi ini.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Aktivitas 1: bandingkan tiga aplikasi nyata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579"/>
                </a:solidFill>
              </a:rPr>
              <a:t>Kerjakan secara individu/kelompok kecil sebelum menulis analisis akhir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TI-501 Pengembangan Aplikasi Web | Pertemuan 1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36579"/>
                </a:solidFill>
              </a:rPr>
              <a:t>13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6327648"/>
            <a:ext cx="11109960" cy="0"/>
          </a:xfrm>
          <a:prstGeom prst="line">
            <a:avLst/>
          </a:prstGeom>
          <a:noFill/>
          <a:ln w="10160">
            <a:solidFill>
              <a:srgbClr val="D9E4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325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B63"/>
                </a:solidFill>
              </a:rPr>
              <a:t>Pilih masing-masing satu contoh: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1783080"/>
            <a:ext cx="429768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43447"/>
                </a:solidFill>
              </a:rPr>
              <a:t>Aplikasi/website Web 1.0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43447"/>
                </a:solidFill>
              </a:rPr>
              <a:t>Aplikasi/website Web 2.0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43447"/>
                </a:solidFill>
              </a:rPr>
              <a:t>Aplikasi/website Web 3.0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63640" y="1325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B63"/>
                </a:solidFill>
              </a:rPr>
              <a:t>Bandingkan berdasarkan: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0" y="1783080"/>
            <a:ext cx="4480560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43447"/>
                </a:solidFill>
              </a:rPr>
              <a:t>Tujuan aplikasi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43447"/>
                </a:solidFill>
              </a:rPr>
              <a:t>Pola interaksi pengguna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43447"/>
                </a:solidFill>
              </a:rPr>
              <a:t>Arsitektur dan penyimpanan data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43447"/>
                </a:solidFill>
              </a:rPr>
              <a:t>Kelebihan, kelemahan, dan risiko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43447"/>
                </a:solidFill>
              </a:rPr>
              <a:t>Kaitan dengan aplikasi web modern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" y="52578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96B"/>
                </a:solidFill>
              </a:rPr>
              <a:t>Hasil aktivitas ini menjadi bahan utama tugas analisis 1 halaman.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Aktivitas 2: buat diagram client-server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579"/>
                </a:solidFill>
              </a:rPr>
              <a:t>Diagram sederhana, bukan kode program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TI-501 Pengembangan Aplikasi Web | Pertemuan 1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36579"/>
                </a:solidFill>
              </a:rPr>
              <a:t>14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6327648"/>
            <a:ext cx="11109960" cy="0"/>
          </a:xfrm>
          <a:prstGeom prst="line">
            <a:avLst/>
          </a:prstGeom>
          <a:noFill/>
          <a:ln w="10160">
            <a:solidFill>
              <a:srgbClr val="D9E4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97480" y="2377440"/>
            <a:ext cx="868680" cy="0"/>
          </a:xfrm>
          <a:prstGeom prst="line">
            <a:avLst/>
          </a:prstGeom>
          <a:noFill/>
          <a:ln w="22860">
            <a:solidFill>
              <a:srgbClr val="173B63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440680" y="2377440"/>
            <a:ext cx="868680" cy="0"/>
          </a:xfrm>
          <a:prstGeom prst="line">
            <a:avLst/>
          </a:prstGeom>
          <a:noFill/>
          <a:ln w="22860">
            <a:solidFill>
              <a:srgbClr val="173B6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183880" y="2377440"/>
            <a:ext cx="868680" cy="0"/>
          </a:xfrm>
          <a:prstGeom prst="line">
            <a:avLst/>
          </a:prstGeom>
          <a:noFill/>
          <a:ln w="22860">
            <a:solidFill>
              <a:srgbClr val="173B6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22960" y="1874520"/>
            <a:ext cx="1874520" cy="1005840"/>
          </a:xfrm>
          <a:prstGeom prst="roundRect">
            <a:avLst>
              <a:gd name="adj" fmla="val 10909"/>
            </a:avLst>
          </a:prstGeom>
          <a:solidFill>
            <a:srgbClr val="F28C00"/>
          </a:solidFill>
          <a:ln w="12700">
            <a:solidFill>
              <a:srgbClr val="F28C0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1031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Pengguna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Browser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566160" y="1874520"/>
            <a:ext cx="1874520" cy="1005840"/>
          </a:xfrm>
          <a:prstGeom prst="roundRect">
            <a:avLst>
              <a:gd name="adj" fmla="val 10909"/>
            </a:avLst>
          </a:prstGeom>
          <a:solidFill>
            <a:srgbClr val="1F5D9C"/>
          </a:solidFill>
          <a:ln w="12700">
            <a:solidFill>
              <a:srgbClr val="1F5D9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21031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Frontend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HTML/CSS/JS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09360" y="1874520"/>
            <a:ext cx="1874520" cy="1005840"/>
          </a:xfrm>
          <a:prstGeom prst="roundRect">
            <a:avLst>
              <a:gd name="adj" fmla="val 10909"/>
            </a:avLst>
          </a:prstGeom>
          <a:solidFill>
            <a:srgbClr val="00796B"/>
          </a:solidFill>
          <a:ln w="12700">
            <a:solidFill>
              <a:srgbClr val="00796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1031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Backend/API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Node/Express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052560" y="1874520"/>
            <a:ext cx="1874520" cy="1005840"/>
          </a:xfrm>
          <a:prstGeom prst="roundRect">
            <a:avLst>
              <a:gd name="adj" fmla="val 10909"/>
            </a:avLst>
          </a:prstGeom>
          <a:solidFill>
            <a:srgbClr val="004B2F"/>
          </a:solidFill>
          <a:ln w="12700">
            <a:solidFill>
              <a:srgbClr val="004B2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0" y="21031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Database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MySQL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68680" y="5074920"/>
            <a:ext cx="10012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243447"/>
                </a:solidFill>
              </a:rPr>
              <a:t>Tambahkan panah dan keterangan singkat tentang data yang berpindah, misalnya request halaman, request API, respons JSON, dan simpan/ambil data.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Tugas individu: analisis 1 halaman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579"/>
                </a:solidFill>
              </a:rPr>
              <a:t>Sesuai README GitHub Pertemuan 1: tugas individu berbobot 5%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TI-501 Pengembangan Aplikasi Web | Pertemuan 1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36579"/>
                </a:solidFill>
              </a:rPr>
              <a:t>15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6327648"/>
            <a:ext cx="11109960" cy="0"/>
          </a:xfrm>
          <a:prstGeom prst="line">
            <a:avLst/>
          </a:prstGeom>
          <a:noFill/>
          <a:ln w="10160">
            <a:solidFill>
              <a:srgbClr val="D9E4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298448"/>
            <a:ext cx="5669280" cy="4160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243447"/>
                </a:solidFill>
              </a:rPr>
              <a:t>Judul: Analisis Evolusi Web 1.0, Web 2.0, dan Web 3.0.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243447"/>
                </a:solidFill>
              </a:rPr>
              <a:t>Isi: perbandingan 3 aplikasi nyata dan diagram client-server sederhana.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243447"/>
                </a:solidFill>
              </a:rPr>
              <a:t>Panjang: maksimal 1 halaman A4; format PDF/DOCX sesuai instruksi dosen.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243447"/>
                </a:solidFill>
              </a:rPr>
              <a:t>Wajib memuat nama, NIM, kelas, tabel perbandingan, diagram, dan kesimpulan pribadi.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243447"/>
                </a:solidFill>
              </a:rPr>
              <a:t>Tidak perlu source code, instalasi Node.js, Git, npm, atau pembuatan repository.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995160" y="13258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B63"/>
                </a:solidFill>
              </a:rPr>
              <a:t>Rubrik ringkas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114032" y="1828800"/>
            <a:ext cx="374904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43447"/>
                </a:solidFill>
              </a:rPr>
              <a:t>Ketepatan contoh aplikasi 25%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43447"/>
                </a:solidFill>
              </a:rPr>
              <a:t>Kedalaman perbandingan 30%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43447"/>
                </a:solidFill>
              </a:rPr>
              <a:t>Diagram client-server 25%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43447"/>
                </a:solidFill>
              </a:rPr>
              <a:t>Kerapian dan refleksi 20%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086600" y="49834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41D1F"/>
                </a:solidFill>
              </a:rPr>
              <a:t>Bobot tugas: 5%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Penutup dan persiapan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579"/>
                </a:solidFill>
              </a:rPr>
              <a:t>Pertemuan 1 selesai jika mahasiswa memahami peta besar web modern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TI-501 Pengembangan Aplikasi Web | Pertemuan 1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36579"/>
                </a:solidFill>
              </a:rPr>
              <a:t>16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6327648"/>
            <a:ext cx="11109960" cy="0"/>
          </a:xfrm>
          <a:prstGeom prst="line">
            <a:avLst/>
          </a:prstGeom>
          <a:noFill/>
          <a:ln w="10160">
            <a:solidFill>
              <a:srgbClr val="D9E4EF"/>
            </a:solidFill>
            <a:prstDash val="solid"/>
          </a:ln>
        </p:spPr>
      </p:sp>
      <p:pic>
        <p:nvPicPr>
          <p:cNvPr id="7" name="Image 0" descr="/mnt/data/slide_assets_valid/collab_wid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43000"/>
            <a:ext cx="5074920" cy="4023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355080" y="1389888"/>
            <a:ext cx="4617720" cy="3566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43447"/>
                </a:solidFill>
              </a:rPr>
              <a:t>Pastikan tugas analisis 1 halaman sudah menjawab perbandingan Web 1.0–3.0.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43447"/>
                </a:solidFill>
              </a:rPr>
              <a:t>Pastikan diagram client-server mudah dibaca dan terkait dengan stack semester.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43447"/>
                </a:solidFill>
              </a:rPr>
              <a:t>Baca materi lanjutan pada RPS dan repositori sesuai arahan dosen.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43447"/>
                </a:solidFill>
              </a:rPr>
              <a:t>Ingat: tugas Pertemuan 1 tidak membutuhkan kode.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355080" y="53492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96B"/>
                </a:solidFill>
              </a:rPr>
              <a:t>Output final: file analisis individu.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UMY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Pertemuan 1 — Pengantar Pengembangan Aplikasi Web dan Evolusi Web 1.0–3.0</dc:title>
  <dc:subject>Pertemuan 1 TI-501</dc:subject>
  <dc:creator>Program Studi Teknologi Informasi UMY</dc:creator>
  <cp:lastModifiedBy>Program Studi Teknologi Informasi UMY</cp:lastModifiedBy>
  <cp:revision>1</cp:revision>
  <dcterms:created xsi:type="dcterms:W3CDTF">2026-07-13T04:19:50Z</dcterms:created>
  <dcterms:modified xsi:type="dcterms:W3CDTF">2026-07-13T04:19:50Z</dcterms:modified>
</cp:coreProperties>
</file>